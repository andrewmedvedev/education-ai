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3" r:id="rId5"/>
    <p:sldId id="295" r:id="rId6"/>
    <p:sldId id="296" r:id="rId7"/>
    <p:sldId id="271" r:id="rId8"/>
    <p:sldId id="284" r:id="rId9"/>
    <p:sldId id="298" r:id="rId10"/>
    <p:sldId id="287" r:id="rId11"/>
    <p:sldId id="299" r:id="rId12"/>
    <p:sldId id="274" r:id="rId13"/>
    <p:sldId id="294" r:id="rId14"/>
    <p:sldId id="262" r:id="rId15"/>
    <p:sldId id="263" r:id="rId16"/>
    <p:sldId id="278" r:id="rId17"/>
    <p:sldId id="279" r:id="rId18"/>
    <p:sldId id="277" r:id="rId19"/>
    <p:sldId id="264" r:id="rId20"/>
    <p:sldId id="265" r:id="rId21"/>
    <p:sldId id="281" r:id="rId22"/>
    <p:sldId id="266" r:id="rId23"/>
    <p:sldId id="289" r:id="rId24"/>
    <p:sldId id="283" r:id="rId25"/>
    <p:sldId id="288" r:id="rId26"/>
    <p:sldId id="282" r:id="rId27"/>
    <p:sldId id="267" r:id="rId28"/>
    <p:sldId id="290" r:id="rId29"/>
    <p:sldId id="268" r:id="rId30"/>
    <p:sldId id="297" r:id="rId31"/>
    <p:sldId id="270" r:id="rId32"/>
    <p:sldId id="280" r:id="rId33"/>
    <p:sldId id="292" r:id="rId34"/>
    <p:sldId id="269" r:id="rId35"/>
    <p:sldId id="291" r:id="rId36"/>
    <p:sldId id="293" r:id="rId37"/>
    <p:sldId id="275" r:id="rId38"/>
    <p:sldId id="276" r:id="rId39"/>
    <p:sldId id="272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D0F7B-EBDA-4118-BE22-8EDF65C0767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DC4A08D-FC42-4EE4-A953-5AD881CC1D9F}">
      <dgm:prSet phldrT="[Текст]" custT="1"/>
      <dgm:spPr/>
      <dgm:t>
        <a:bodyPr/>
        <a:lstStyle/>
        <a:p>
          <a:r>
            <a:rPr lang="ru-RU" sz="2400" dirty="0"/>
            <a:t>ЭТАПЫ РАЗРАБОТКИ ПО</a:t>
          </a:r>
        </a:p>
      </dgm:t>
    </dgm:pt>
    <dgm:pt modelId="{D9B7F2C7-363B-4DF7-B27B-273D4994C7F9}" type="parTrans" cxnId="{70F9DE77-E99B-4E54-A841-AA43761B9B4E}">
      <dgm:prSet/>
      <dgm:spPr/>
      <dgm:t>
        <a:bodyPr/>
        <a:lstStyle/>
        <a:p>
          <a:endParaRPr lang="ru-RU" sz="2400"/>
        </a:p>
      </dgm:t>
    </dgm:pt>
    <dgm:pt modelId="{7F988D20-C177-47D6-8B1B-FFD0E694E136}" type="sibTrans" cxnId="{70F9DE77-E99B-4E54-A841-AA43761B9B4E}">
      <dgm:prSet/>
      <dgm:spPr/>
      <dgm:t>
        <a:bodyPr/>
        <a:lstStyle/>
        <a:p>
          <a:endParaRPr lang="ru-RU" sz="2400"/>
        </a:p>
      </dgm:t>
    </dgm:pt>
    <dgm:pt modelId="{C0A9DC8E-8A3A-4585-889E-662496AEC9F0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Анализ требований к системе и определение спецификаций (6 %)</a:t>
          </a:r>
          <a:endParaRPr lang="ru-RU" sz="2400" dirty="0"/>
        </a:p>
      </dgm:t>
    </dgm:pt>
    <dgm:pt modelId="{252AD29E-1C4E-4738-B936-816B9C2A6622}" type="parTrans" cxnId="{8C9EF75B-D0B6-4878-B962-23C16FDEDF54}">
      <dgm:prSet custT="1"/>
      <dgm:spPr/>
      <dgm:t>
        <a:bodyPr/>
        <a:lstStyle/>
        <a:p>
          <a:endParaRPr lang="ru-RU" sz="2400"/>
        </a:p>
      </dgm:t>
    </dgm:pt>
    <dgm:pt modelId="{AF9F7290-E4FA-45B8-86C4-4B049B0EE57E}" type="sibTrans" cxnId="{8C9EF75B-D0B6-4878-B962-23C16FDEDF54}">
      <dgm:prSet/>
      <dgm:spPr/>
      <dgm:t>
        <a:bodyPr/>
        <a:lstStyle/>
        <a:p>
          <a:endParaRPr lang="ru-RU" sz="2400"/>
        </a:p>
      </dgm:t>
    </dgm:pt>
    <dgm:pt modelId="{BC77ADD0-0138-41C2-A8DE-4A117FF02D7A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Проектирование (5 %)</a:t>
          </a:r>
          <a:endParaRPr lang="ru-RU" sz="2400" dirty="0"/>
        </a:p>
      </dgm:t>
    </dgm:pt>
    <dgm:pt modelId="{2303895B-14A0-4E75-8A51-C30528526ECA}" type="parTrans" cxnId="{7417A583-77B9-4E9C-BF44-B0F5EF9D1FF4}">
      <dgm:prSet custT="1"/>
      <dgm:spPr/>
      <dgm:t>
        <a:bodyPr/>
        <a:lstStyle/>
        <a:p>
          <a:endParaRPr lang="ru-RU" sz="2400"/>
        </a:p>
      </dgm:t>
    </dgm:pt>
    <dgm:pt modelId="{7968C2FC-2109-4DF8-A3CD-43DD828CDD1F}" type="sibTrans" cxnId="{7417A583-77B9-4E9C-BF44-B0F5EF9D1FF4}">
      <dgm:prSet/>
      <dgm:spPr/>
      <dgm:t>
        <a:bodyPr/>
        <a:lstStyle/>
        <a:p>
          <a:endParaRPr lang="ru-RU" sz="2400"/>
        </a:p>
      </dgm:t>
    </dgm:pt>
    <dgm:pt modelId="{2050FBB0-861D-4014-8964-30C6E073DF6F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Кодирование (7 %)</a:t>
          </a:r>
          <a:endParaRPr lang="ru-RU" sz="2400" dirty="0"/>
        </a:p>
      </dgm:t>
    </dgm:pt>
    <dgm:pt modelId="{DEDF6DFF-13F3-43E2-874F-6D6A08662110}" type="parTrans" cxnId="{59933745-7443-4B46-AA8D-410996020428}">
      <dgm:prSet custT="1"/>
      <dgm:spPr/>
      <dgm:t>
        <a:bodyPr/>
        <a:lstStyle/>
        <a:p>
          <a:endParaRPr lang="ru-RU" sz="2400"/>
        </a:p>
      </dgm:t>
    </dgm:pt>
    <dgm:pt modelId="{3B4DC298-64E4-4647-A1AA-3FA1F1009356}" type="sibTrans" cxnId="{59933745-7443-4B46-AA8D-410996020428}">
      <dgm:prSet/>
      <dgm:spPr/>
      <dgm:t>
        <a:bodyPr/>
        <a:lstStyle/>
        <a:p>
          <a:endParaRPr lang="ru-RU" sz="2400"/>
        </a:p>
      </dgm:t>
    </dgm:pt>
    <dgm:pt modelId="{EEA956A1-9670-44B6-AB9B-FC92EFE2D33C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Тестирование (15%)</a:t>
          </a:r>
          <a:endParaRPr lang="ru-RU" sz="2400" dirty="0"/>
        </a:p>
      </dgm:t>
    </dgm:pt>
    <dgm:pt modelId="{58990D3F-09E3-4D62-8D02-E396C4D8719F}" type="parTrans" cxnId="{1C34D8EF-9742-4227-81FF-8A12E14A4A8C}">
      <dgm:prSet custT="1"/>
      <dgm:spPr/>
      <dgm:t>
        <a:bodyPr/>
        <a:lstStyle/>
        <a:p>
          <a:endParaRPr lang="ru-RU" sz="2400"/>
        </a:p>
      </dgm:t>
    </dgm:pt>
    <dgm:pt modelId="{9391B07D-85E5-426A-BFAB-3BB37774778B}" type="sibTrans" cxnId="{1C34D8EF-9742-4227-81FF-8A12E14A4A8C}">
      <dgm:prSet/>
      <dgm:spPr/>
      <dgm:t>
        <a:bodyPr/>
        <a:lstStyle/>
        <a:p>
          <a:endParaRPr lang="ru-RU" sz="2400"/>
        </a:p>
      </dgm:t>
    </dgm:pt>
    <dgm:pt modelId="{E17C7E97-F9B4-46CC-A1DB-2716E9895AF1}">
      <dgm:prSet phldrT="[Текст]" custT="1"/>
      <dgm:spPr/>
      <dgm:t>
        <a:bodyPr/>
        <a:lstStyle/>
        <a:p>
          <a:r>
            <a:rPr lang="ru-RU" altLang="ru-RU" sz="2400" b="1">
              <a:solidFill>
                <a:srgbClr val="F8F8F8"/>
              </a:solidFill>
            </a:rPr>
            <a:t>Автономное (8 %)</a:t>
          </a:r>
          <a:endParaRPr lang="ru-RU" sz="2400" dirty="0"/>
        </a:p>
      </dgm:t>
    </dgm:pt>
    <dgm:pt modelId="{750EFDB4-6FDE-4AC7-8B46-4D85DBC61188}" type="parTrans" cxnId="{21D20921-5118-47D7-952D-B318C7629684}">
      <dgm:prSet custT="1"/>
      <dgm:spPr/>
      <dgm:t>
        <a:bodyPr/>
        <a:lstStyle/>
        <a:p>
          <a:endParaRPr lang="ru-RU" sz="2400"/>
        </a:p>
      </dgm:t>
    </dgm:pt>
    <dgm:pt modelId="{47DFE159-C4D0-4FD5-BD19-DD9AADE4D5A0}" type="sibTrans" cxnId="{21D20921-5118-47D7-952D-B318C7629684}">
      <dgm:prSet/>
      <dgm:spPr/>
      <dgm:t>
        <a:bodyPr/>
        <a:lstStyle/>
        <a:p>
          <a:endParaRPr lang="ru-RU" sz="2400"/>
        </a:p>
      </dgm:t>
    </dgm:pt>
    <dgm:pt modelId="{A402B274-59B1-4459-AA8C-FF97FF864EE1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Комплексное (7 %)</a:t>
          </a:r>
          <a:endParaRPr lang="ru-RU" sz="2400" dirty="0"/>
        </a:p>
      </dgm:t>
    </dgm:pt>
    <dgm:pt modelId="{36778E81-F8B5-46FB-A94A-FE6C9D68D579}" type="parTrans" cxnId="{E719F3E8-47D9-48F0-85D6-50CC7C90B117}">
      <dgm:prSet custT="1"/>
      <dgm:spPr/>
      <dgm:t>
        <a:bodyPr/>
        <a:lstStyle/>
        <a:p>
          <a:endParaRPr lang="ru-RU" sz="2400"/>
        </a:p>
      </dgm:t>
    </dgm:pt>
    <dgm:pt modelId="{6B46F30B-8FE5-4B62-8CAE-DD96E1DE6EE8}" type="sibTrans" cxnId="{E719F3E8-47D9-48F0-85D6-50CC7C90B117}">
      <dgm:prSet/>
      <dgm:spPr/>
      <dgm:t>
        <a:bodyPr/>
        <a:lstStyle/>
        <a:p>
          <a:endParaRPr lang="ru-RU" sz="2400"/>
        </a:p>
      </dgm:t>
    </dgm:pt>
    <dgm:pt modelId="{AB8DDD27-0B06-4172-B53E-43B36B95CE23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Эксплуатация и сопровождение (67 %)</a:t>
          </a:r>
          <a:endParaRPr lang="ru-RU" sz="2400" dirty="0"/>
        </a:p>
      </dgm:t>
    </dgm:pt>
    <dgm:pt modelId="{8644EBAA-E360-4188-B7C9-23B01E6AAA86}" type="parTrans" cxnId="{F0D144CC-6207-479A-A0EE-2BBD86FB6E7C}">
      <dgm:prSet custT="1"/>
      <dgm:spPr/>
      <dgm:t>
        <a:bodyPr/>
        <a:lstStyle/>
        <a:p>
          <a:endParaRPr lang="ru-RU" sz="2400"/>
        </a:p>
      </dgm:t>
    </dgm:pt>
    <dgm:pt modelId="{35A6BA58-92D5-49A6-927B-47A893AD0144}" type="sibTrans" cxnId="{F0D144CC-6207-479A-A0EE-2BBD86FB6E7C}">
      <dgm:prSet/>
      <dgm:spPr/>
      <dgm:t>
        <a:bodyPr/>
        <a:lstStyle/>
        <a:p>
          <a:endParaRPr lang="ru-RU" sz="2400"/>
        </a:p>
      </dgm:t>
    </dgm:pt>
    <dgm:pt modelId="{59E5F5A2-B416-4867-90A7-99FE3C0B2050}" type="pres">
      <dgm:prSet presAssocID="{1CDD0F7B-EBDA-4118-BE22-8EDF65C0767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641B271-1E7F-4AB2-AEE0-D108DE59DB60}" type="pres">
      <dgm:prSet presAssocID="{4DC4A08D-FC42-4EE4-A953-5AD881CC1D9F}" presName="root1" presStyleCnt="0"/>
      <dgm:spPr/>
    </dgm:pt>
    <dgm:pt modelId="{4CB8E57E-6687-4803-914F-7F0A766CB800}" type="pres">
      <dgm:prSet presAssocID="{4DC4A08D-FC42-4EE4-A953-5AD881CC1D9F}" presName="LevelOneTextNode" presStyleLbl="node0" presStyleIdx="0" presStyleCnt="1">
        <dgm:presLayoutVars>
          <dgm:chPref val="3"/>
        </dgm:presLayoutVars>
      </dgm:prSet>
      <dgm:spPr/>
    </dgm:pt>
    <dgm:pt modelId="{E60DFF2C-A69B-4000-ABBC-0D368CEF6968}" type="pres">
      <dgm:prSet presAssocID="{4DC4A08D-FC42-4EE4-A953-5AD881CC1D9F}" presName="level2hierChild" presStyleCnt="0"/>
      <dgm:spPr/>
    </dgm:pt>
    <dgm:pt modelId="{035BF5ED-7FA8-40A1-8568-1E98363EB354}" type="pres">
      <dgm:prSet presAssocID="{252AD29E-1C4E-4738-B936-816B9C2A6622}" presName="conn2-1" presStyleLbl="parChTrans1D2" presStyleIdx="0" presStyleCnt="5"/>
      <dgm:spPr/>
    </dgm:pt>
    <dgm:pt modelId="{74514244-B1F2-46F8-889F-946563AD81CA}" type="pres">
      <dgm:prSet presAssocID="{252AD29E-1C4E-4738-B936-816B9C2A6622}" presName="connTx" presStyleLbl="parChTrans1D2" presStyleIdx="0" presStyleCnt="5"/>
      <dgm:spPr/>
    </dgm:pt>
    <dgm:pt modelId="{065D9AE3-8B17-4837-B77F-7F4124F75872}" type="pres">
      <dgm:prSet presAssocID="{C0A9DC8E-8A3A-4585-889E-662496AEC9F0}" presName="root2" presStyleCnt="0"/>
      <dgm:spPr/>
    </dgm:pt>
    <dgm:pt modelId="{11BD3E5C-3FD9-40CF-85EF-61EE8D0D43CF}" type="pres">
      <dgm:prSet presAssocID="{C0A9DC8E-8A3A-4585-889E-662496AEC9F0}" presName="LevelTwoTextNode" presStyleLbl="node2" presStyleIdx="0" presStyleCnt="5" custScaleX="220627">
        <dgm:presLayoutVars>
          <dgm:chPref val="3"/>
        </dgm:presLayoutVars>
      </dgm:prSet>
      <dgm:spPr/>
    </dgm:pt>
    <dgm:pt modelId="{62C9E0D5-FC55-4873-A116-B4AE0C1A9624}" type="pres">
      <dgm:prSet presAssocID="{C0A9DC8E-8A3A-4585-889E-662496AEC9F0}" presName="level3hierChild" presStyleCnt="0"/>
      <dgm:spPr/>
    </dgm:pt>
    <dgm:pt modelId="{56D17596-D38B-4966-8CEF-03ECF6D0C763}" type="pres">
      <dgm:prSet presAssocID="{2303895B-14A0-4E75-8A51-C30528526ECA}" presName="conn2-1" presStyleLbl="parChTrans1D2" presStyleIdx="1" presStyleCnt="5"/>
      <dgm:spPr/>
    </dgm:pt>
    <dgm:pt modelId="{95D52AA9-0440-4FD6-9669-0CE501A6EB59}" type="pres">
      <dgm:prSet presAssocID="{2303895B-14A0-4E75-8A51-C30528526ECA}" presName="connTx" presStyleLbl="parChTrans1D2" presStyleIdx="1" presStyleCnt="5"/>
      <dgm:spPr/>
    </dgm:pt>
    <dgm:pt modelId="{D4AA4612-563C-4018-909A-A8E231EEED89}" type="pres">
      <dgm:prSet presAssocID="{BC77ADD0-0138-41C2-A8DE-4A117FF02D7A}" presName="root2" presStyleCnt="0"/>
      <dgm:spPr/>
    </dgm:pt>
    <dgm:pt modelId="{C1C75D8C-CD47-42BB-8E6C-416BC10571DF}" type="pres">
      <dgm:prSet presAssocID="{BC77ADD0-0138-41C2-A8DE-4A117FF02D7A}" presName="LevelTwoTextNode" presStyleLbl="node2" presStyleIdx="1" presStyleCnt="5" custScaleX="220627">
        <dgm:presLayoutVars>
          <dgm:chPref val="3"/>
        </dgm:presLayoutVars>
      </dgm:prSet>
      <dgm:spPr/>
    </dgm:pt>
    <dgm:pt modelId="{B11486FF-F8D5-4E97-A246-36E5F454709D}" type="pres">
      <dgm:prSet presAssocID="{BC77ADD0-0138-41C2-A8DE-4A117FF02D7A}" presName="level3hierChild" presStyleCnt="0"/>
      <dgm:spPr/>
    </dgm:pt>
    <dgm:pt modelId="{62037B94-9938-4E11-B7A0-4831315EF2A9}" type="pres">
      <dgm:prSet presAssocID="{DEDF6DFF-13F3-43E2-874F-6D6A08662110}" presName="conn2-1" presStyleLbl="parChTrans1D2" presStyleIdx="2" presStyleCnt="5"/>
      <dgm:spPr/>
    </dgm:pt>
    <dgm:pt modelId="{80D6763E-1B1F-4A66-993B-674440B9D4FE}" type="pres">
      <dgm:prSet presAssocID="{DEDF6DFF-13F3-43E2-874F-6D6A08662110}" presName="connTx" presStyleLbl="parChTrans1D2" presStyleIdx="2" presStyleCnt="5"/>
      <dgm:spPr/>
    </dgm:pt>
    <dgm:pt modelId="{9DE148BB-7F73-4D5A-85DD-2C3F3120BE44}" type="pres">
      <dgm:prSet presAssocID="{2050FBB0-861D-4014-8964-30C6E073DF6F}" presName="root2" presStyleCnt="0"/>
      <dgm:spPr/>
    </dgm:pt>
    <dgm:pt modelId="{9CE05DFA-0EFC-4665-86D1-448ECC71223D}" type="pres">
      <dgm:prSet presAssocID="{2050FBB0-861D-4014-8964-30C6E073DF6F}" presName="LevelTwoTextNode" presStyleLbl="node2" presStyleIdx="2" presStyleCnt="5" custScaleX="220627">
        <dgm:presLayoutVars>
          <dgm:chPref val="3"/>
        </dgm:presLayoutVars>
      </dgm:prSet>
      <dgm:spPr/>
    </dgm:pt>
    <dgm:pt modelId="{8E55021D-F828-450C-AA32-B93178046E4B}" type="pres">
      <dgm:prSet presAssocID="{2050FBB0-861D-4014-8964-30C6E073DF6F}" presName="level3hierChild" presStyleCnt="0"/>
      <dgm:spPr/>
    </dgm:pt>
    <dgm:pt modelId="{E1D88C90-D57E-4B6D-A0BA-2A38D6E068E7}" type="pres">
      <dgm:prSet presAssocID="{58990D3F-09E3-4D62-8D02-E396C4D8719F}" presName="conn2-1" presStyleLbl="parChTrans1D2" presStyleIdx="3" presStyleCnt="5"/>
      <dgm:spPr/>
    </dgm:pt>
    <dgm:pt modelId="{B8AFCB25-8B00-4EEA-BC59-6AA222AE41CD}" type="pres">
      <dgm:prSet presAssocID="{58990D3F-09E3-4D62-8D02-E396C4D8719F}" presName="connTx" presStyleLbl="parChTrans1D2" presStyleIdx="3" presStyleCnt="5"/>
      <dgm:spPr/>
    </dgm:pt>
    <dgm:pt modelId="{05F987DB-B715-4869-B8FA-D460B7919D15}" type="pres">
      <dgm:prSet presAssocID="{EEA956A1-9670-44B6-AB9B-FC92EFE2D33C}" presName="root2" presStyleCnt="0"/>
      <dgm:spPr/>
    </dgm:pt>
    <dgm:pt modelId="{7F711313-A986-41D8-9B25-793104C29384}" type="pres">
      <dgm:prSet presAssocID="{EEA956A1-9670-44B6-AB9B-FC92EFE2D33C}" presName="LevelTwoTextNode" presStyleLbl="node2" presStyleIdx="3" presStyleCnt="5" custScaleX="220627">
        <dgm:presLayoutVars>
          <dgm:chPref val="3"/>
        </dgm:presLayoutVars>
      </dgm:prSet>
      <dgm:spPr/>
    </dgm:pt>
    <dgm:pt modelId="{FF1C133E-71C4-4EE7-B329-1D41A00C48F3}" type="pres">
      <dgm:prSet presAssocID="{EEA956A1-9670-44B6-AB9B-FC92EFE2D33C}" presName="level3hierChild" presStyleCnt="0"/>
      <dgm:spPr/>
    </dgm:pt>
    <dgm:pt modelId="{193407C6-9846-4D71-AACA-5C2B1A212A27}" type="pres">
      <dgm:prSet presAssocID="{750EFDB4-6FDE-4AC7-8B46-4D85DBC61188}" presName="conn2-1" presStyleLbl="parChTrans1D3" presStyleIdx="0" presStyleCnt="2"/>
      <dgm:spPr/>
    </dgm:pt>
    <dgm:pt modelId="{2D4B1483-29A5-4CFD-9B4A-37D3D5E29BE8}" type="pres">
      <dgm:prSet presAssocID="{750EFDB4-6FDE-4AC7-8B46-4D85DBC61188}" presName="connTx" presStyleLbl="parChTrans1D3" presStyleIdx="0" presStyleCnt="2"/>
      <dgm:spPr/>
    </dgm:pt>
    <dgm:pt modelId="{167BC3E0-56F4-4FD3-BF56-C8585087F312}" type="pres">
      <dgm:prSet presAssocID="{E17C7E97-F9B4-46CC-A1DB-2716E9895AF1}" presName="root2" presStyleCnt="0"/>
      <dgm:spPr/>
    </dgm:pt>
    <dgm:pt modelId="{6AEA44A2-C708-4134-8AE7-17312B2EFF7C}" type="pres">
      <dgm:prSet presAssocID="{E17C7E97-F9B4-46CC-A1DB-2716E9895AF1}" presName="LevelTwoTextNode" presStyleLbl="node3" presStyleIdx="0" presStyleCnt="2">
        <dgm:presLayoutVars>
          <dgm:chPref val="3"/>
        </dgm:presLayoutVars>
      </dgm:prSet>
      <dgm:spPr/>
    </dgm:pt>
    <dgm:pt modelId="{FD3EE277-024E-4892-8FEB-1B18CDD69707}" type="pres">
      <dgm:prSet presAssocID="{E17C7E97-F9B4-46CC-A1DB-2716E9895AF1}" presName="level3hierChild" presStyleCnt="0"/>
      <dgm:spPr/>
    </dgm:pt>
    <dgm:pt modelId="{45F4957D-80D3-47AA-B651-1EF767838729}" type="pres">
      <dgm:prSet presAssocID="{36778E81-F8B5-46FB-A94A-FE6C9D68D579}" presName="conn2-1" presStyleLbl="parChTrans1D3" presStyleIdx="1" presStyleCnt="2"/>
      <dgm:spPr/>
    </dgm:pt>
    <dgm:pt modelId="{BA1C5D18-91CD-4128-8D8A-4F553B7EF02D}" type="pres">
      <dgm:prSet presAssocID="{36778E81-F8B5-46FB-A94A-FE6C9D68D579}" presName="connTx" presStyleLbl="parChTrans1D3" presStyleIdx="1" presStyleCnt="2"/>
      <dgm:spPr/>
    </dgm:pt>
    <dgm:pt modelId="{C1F0C4F9-3E83-4854-9848-CF0D6C2EA0D5}" type="pres">
      <dgm:prSet presAssocID="{A402B274-59B1-4459-AA8C-FF97FF864EE1}" presName="root2" presStyleCnt="0"/>
      <dgm:spPr/>
    </dgm:pt>
    <dgm:pt modelId="{573C6833-D054-452B-A1B8-F0C15988D630}" type="pres">
      <dgm:prSet presAssocID="{A402B274-59B1-4459-AA8C-FF97FF864EE1}" presName="LevelTwoTextNode" presStyleLbl="node3" presStyleIdx="1" presStyleCnt="2">
        <dgm:presLayoutVars>
          <dgm:chPref val="3"/>
        </dgm:presLayoutVars>
      </dgm:prSet>
      <dgm:spPr/>
    </dgm:pt>
    <dgm:pt modelId="{E78619B9-7476-4D8A-BA5E-C8B1DB497705}" type="pres">
      <dgm:prSet presAssocID="{A402B274-59B1-4459-AA8C-FF97FF864EE1}" presName="level3hierChild" presStyleCnt="0"/>
      <dgm:spPr/>
    </dgm:pt>
    <dgm:pt modelId="{B81FDD02-4468-4E13-9EB0-08A3E81D663E}" type="pres">
      <dgm:prSet presAssocID="{8644EBAA-E360-4188-B7C9-23B01E6AAA86}" presName="conn2-1" presStyleLbl="parChTrans1D2" presStyleIdx="4" presStyleCnt="5"/>
      <dgm:spPr/>
    </dgm:pt>
    <dgm:pt modelId="{FDEA60D1-DD16-4BE3-812C-555F0A452DBF}" type="pres">
      <dgm:prSet presAssocID="{8644EBAA-E360-4188-B7C9-23B01E6AAA86}" presName="connTx" presStyleLbl="parChTrans1D2" presStyleIdx="4" presStyleCnt="5"/>
      <dgm:spPr/>
    </dgm:pt>
    <dgm:pt modelId="{E80416EC-7FA6-42FB-8C84-6189028B2447}" type="pres">
      <dgm:prSet presAssocID="{AB8DDD27-0B06-4172-B53E-43B36B95CE23}" presName="root2" presStyleCnt="0"/>
      <dgm:spPr/>
    </dgm:pt>
    <dgm:pt modelId="{EAFF33E8-10AB-4383-BCAE-C9C9F25AC0B0}" type="pres">
      <dgm:prSet presAssocID="{AB8DDD27-0B06-4172-B53E-43B36B95CE23}" presName="LevelTwoTextNode" presStyleLbl="node2" presStyleIdx="4" presStyleCnt="5" custScaleX="220627">
        <dgm:presLayoutVars>
          <dgm:chPref val="3"/>
        </dgm:presLayoutVars>
      </dgm:prSet>
      <dgm:spPr/>
    </dgm:pt>
    <dgm:pt modelId="{87137952-FCCD-4B04-8475-25B15E211838}" type="pres">
      <dgm:prSet presAssocID="{AB8DDD27-0B06-4172-B53E-43B36B95CE23}" presName="level3hierChild" presStyleCnt="0"/>
      <dgm:spPr/>
    </dgm:pt>
  </dgm:ptLst>
  <dgm:cxnLst>
    <dgm:cxn modelId="{21D20921-5118-47D7-952D-B318C7629684}" srcId="{EEA956A1-9670-44B6-AB9B-FC92EFE2D33C}" destId="{E17C7E97-F9B4-46CC-A1DB-2716E9895AF1}" srcOrd="0" destOrd="0" parTransId="{750EFDB4-6FDE-4AC7-8B46-4D85DBC61188}" sibTransId="{47DFE159-C4D0-4FD5-BD19-DD9AADE4D5A0}"/>
    <dgm:cxn modelId="{1770BB2F-307E-48F7-AD25-4223271B49B7}" type="presOf" srcId="{58990D3F-09E3-4D62-8D02-E396C4D8719F}" destId="{B8AFCB25-8B00-4EEA-BC59-6AA222AE41CD}" srcOrd="1" destOrd="0" presId="urn:microsoft.com/office/officeart/2008/layout/HorizontalMultiLevelHierarchy"/>
    <dgm:cxn modelId="{300E7E31-A137-41B4-837B-F21A5F5F0A7B}" type="presOf" srcId="{BC77ADD0-0138-41C2-A8DE-4A117FF02D7A}" destId="{C1C75D8C-CD47-42BB-8E6C-416BC10571DF}" srcOrd="0" destOrd="0" presId="urn:microsoft.com/office/officeart/2008/layout/HorizontalMultiLevelHierarchy"/>
    <dgm:cxn modelId="{8C9EF75B-D0B6-4878-B962-23C16FDEDF54}" srcId="{4DC4A08D-FC42-4EE4-A953-5AD881CC1D9F}" destId="{C0A9DC8E-8A3A-4585-889E-662496AEC9F0}" srcOrd="0" destOrd="0" parTransId="{252AD29E-1C4E-4738-B936-816B9C2A6622}" sibTransId="{AF9F7290-E4FA-45B8-86C4-4B049B0EE57E}"/>
    <dgm:cxn modelId="{A01F1761-090F-4EB9-A505-2A964998AF9C}" type="presOf" srcId="{2303895B-14A0-4E75-8A51-C30528526ECA}" destId="{95D52AA9-0440-4FD6-9669-0CE501A6EB59}" srcOrd="1" destOrd="0" presId="urn:microsoft.com/office/officeart/2008/layout/HorizontalMultiLevelHierarchy"/>
    <dgm:cxn modelId="{59933745-7443-4B46-AA8D-410996020428}" srcId="{4DC4A08D-FC42-4EE4-A953-5AD881CC1D9F}" destId="{2050FBB0-861D-4014-8964-30C6E073DF6F}" srcOrd="2" destOrd="0" parTransId="{DEDF6DFF-13F3-43E2-874F-6D6A08662110}" sibTransId="{3B4DC298-64E4-4647-A1AA-3FA1F1009356}"/>
    <dgm:cxn modelId="{D61BDF49-D4FE-48BE-B6AB-687E3FC0688D}" type="presOf" srcId="{8644EBAA-E360-4188-B7C9-23B01E6AAA86}" destId="{B81FDD02-4468-4E13-9EB0-08A3E81D663E}" srcOrd="0" destOrd="0" presId="urn:microsoft.com/office/officeart/2008/layout/HorizontalMultiLevelHierarchy"/>
    <dgm:cxn modelId="{9FFEEA4A-DC3F-44FA-8E70-BD1E79D1CCF5}" type="presOf" srcId="{750EFDB4-6FDE-4AC7-8B46-4D85DBC61188}" destId="{2D4B1483-29A5-4CFD-9B4A-37D3D5E29BE8}" srcOrd="1" destOrd="0" presId="urn:microsoft.com/office/officeart/2008/layout/HorizontalMultiLevelHierarchy"/>
    <dgm:cxn modelId="{D9381750-D284-41D9-9A61-FFD42117982A}" type="presOf" srcId="{1CDD0F7B-EBDA-4118-BE22-8EDF65C07676}" destId="{59E5F5A2-B416-4867-90A7-99FE3C0B2050}" srcOrd="0" destOrd="0" presId="urn:microsoft.com/office/officeart/2008/layout/HorizontalMultiLevelHierarchy"/>
    <dgm:cxn modelId="{8B225A70-F083-4443-A063-73589742DB27}" type="presOf" srcId="{DEDF6DFF-13F3-43E2-874F-6D6A08662110}" destId="{80D6763E-1B1F-4A66-993B-674440B9D4FE}" srcOrd="1" destOrd="0" presId="urn:microsoft.com/office/officeart/2008/layout/HorizontalMultiLevelHierarchy"/>
    <dgm:cxn modelId="{4041FA72-A907-441A-B7CA-4E44B90E82FB}" type="presOf" srcId="{36778E81-F8B5-46FB-A94A-FE6C9D68D579}" destId="{45F4957D-80D3-47AA-B651-1EF767838729}" srcOrd="0" destOrd="0" presId="urn:microsoft.com/office/officeart/2008/layout/HorizontalMultiLevelHierarchy"/>
    <dgm:cxn modelId="{70F9DE77-E99B-4E54-A841-AA43761B9B4E}" srcId="{1CDD0F7B-EBDA-4118-BE22-8EDF65C07676}" destId="{4DC4A08D-FC42-4EE4-A953-5AD881CC1D9F}" srcOrd="0" destOrd="0" parTransId="{D9B7F2C7-363B-4DF7-B27B-273D4994C7F9}" sibTransId="{7F988D20-C177-47D6-8B1B-FFD0E694E136}"/>
    <dgm:cxn modelId="{11963E58-8264-4C29-8BD6-B71C0C8552F8}" type="presOf" srcId="{EEA956A1-9670-44B6-AB9B-FC92EFE2D33C}" destId="{7F711313-A986-41D8-9B25-793104C29384}" srcOrd="0" destOrd="0" presId="urn:microsoft.com/office/officeart/2008/layout/HorizontalMultiLevelHierarchy"/>
    <dgm:cxn modelId="{77125858-91D4-429F-9A2C-2F0052968DA5}" type="presOf" srcId="{252AD29E-1C4E-4738-B936-816B9C2A6622}" destId="{74514244-B1F2-46F8-889F-946563AD81CA}" srcOrd="1" destOrd="0" presId="urn:microsoft.com/office/officeart/2008/layout/HorizontalMultiLevelHierarchy"/>
    <dgm:cxn modelId="{7417A583-77B9-4E9C-BF44-B0F5EF9D1FF4}" srcId="{4DC4A08D-FC42-4EE4-A953-5AD881CC1D9F}" destId="{BC77ADD0-0138-41C2-A8DE-4A117FF02D7A}" srcOrd="1" destOrd="0" parTransId="{2303895B-14A0-4E75-8A51-C30528526ECA}" sibTransId="{7968C2FC-2109-4DF8-A3CD-43DD828CDD1F}"/>
    <dgm:cxn modelId="{5D0C6E8E-4393-4848-8C52-BF31D732CB1A}" type="presOf" srcId="{2050FBB0-861D-4014-8964-30C6E073DF6F}" destId="{9CE05DFA-0EFC-4665-86D1-448ECC71223D}" srcOrd="0" destOrd="0" presId="urn:microsoft.com/office/officeart/2008/layout/HorizontalMultiLevelHierarchy"/>
    <dgm:cxn modelId="{6A90EF96-F9F9-42CC-BDC6-65FFD8A25E8D}" type="presOf" srcId="{E17C7E97-F9B4-46CC-A1DB-2716E9895AF1}" destId="{6AEA44A2-C708-4134-8AE7-17312B2EFF7C}" srcOrd="0" destOrd="0" presId="urn:microsoft.com/office/officeart/2008/layout/HorizontalMultiLevelHierarchy"/>
    <dgm:cxn modelId="{5C23719C-1A41-4399-B02C-616A0BD9C679}" type="presOf" srcId="{36778E81-F8B5-46FB-A94A-FE6C9D68D579}" destId="{BA1C5D18-91CD-4128-8D8A-4F553B7EF02D}" srcOrd="1" destOrd="0" presId="urn:microsoft.com/office/officeart/2008/layout/HorizontalMultiLevelHierarchy"/>
    <dgm:cxn modelId="{EDDD68AF-09B3-4D38-8A99-B2839440ED71}" type="presOf" srcId="{750EFDB4-6FDE-4AC7-8B46-4D85DBC61188}" destId="{193407C6-9846-4D71-AACA-5C2B1A212A27}" srcOrd="0" destOrd="0" presId="urn:microsoft.com/office/officeart/2008/layout/HorizontalMultiLevelHierarchy"/>
    <dgm:cxn modelId="{00687FB5-9462-4387-B6F3-EE8A6F43F831}" type="presOf" srcId="{A402B274-59B1-4459-AA8C-FF97FF864EE1}" destId="{573C6833-D054-452B-A1B8-F0C15988D630}" srcOrd="0" destOrd="0" presId="urn:microsoft.com/office/officeart/2008/layout/HorizontalMultiLevelHierarchy"/>
    <dgm:cxn modelId="{B45518B7-13F6-48C4-8B96-A204F5ACED9A}" type="presOf" srcId="{C0A9DC8E-8A3A-4585-889E-662496AEC9F0}" destId="{11BD3E5C-3FD9-40CF-85EF-61EE8D0D43CF}" srcOrd="0" destOrd="0" presId="urn:microsoft.com/office/officeart/2008/layout/HorizontalMultiLevelHierarchy"/>
    <dgm:cxn modelId="{7B6E20BD-1CA9-4F33-8C85-1A7785761EC9}" type="presOf" srcId="{58990D3F-09E3-4D62-8D02-E396C4D8719F}" destId="{E1D88C90-D57E-4B6D-A0BA-2A38D6E068E7}" srcOrd="0" destOrd="0" presId="urn:microsoft.com/office/officeart/2008/layout/HorizontalMultiLevelHierarchy"/>
    <dgm:cxn modelId="{682E8AC4-A256-4323-A955-22D74F4A86C0}" type="presOf" srcId="{DEDF6DFF-13F3-43E2-874F-6D6A08662110}" destId="{62037B94-9938-4E11-B7A0-4831315EF2A9}" srcOrd="0" destOrd="0" presId="urn:microsoft.com/office/officeart/2008/layout/HorizontalMultiLevelHierarchy"/>
    <dgm:cxn modelId="{820C84C9-4F9C-4C29-80E0-FA58BE21961D}" type="presOf" srcId="{8644EBAA-E360-4188-B7C9-23B01E6AAA86}" destId="{FDEA60D1-DD16-4BE3-812C-555F0A452DBF}" srcOrd="1" destOrd="0" presId="urn:microsoft.com/office/officeart/2008/layout/HorizontalMultiLevelHierarchy"/>
    <dgm:cxn modelId="{F0D144CC-6207-479A-A0EE-2BBD86FB6E7C}" srcId="{4DC4A08D-FC42-4EE4-A953-5AD881CC1D9F}" destId="{AB8DDD27-0B06-4172-B53E-43B36B95CE23}" srcOrd="4" destOrd="0" parTransId="{8644EBAA-E360-4188-B7C9-23B01E6AAA86}" sibTransId="{35A6BA58-92D5-49A6-927B-47A893AD0144}"/>
    <dgm:cxn modelId="{4D834DDC-2999-4C4A-8CE5-EB344D5195CD}" type="presOf" srcId="{2303895B-14A0-4E75-8A51-C30528526ECA}" destId="{56D17596-D38B-4966-8CEF-03ECF6D0C763}" srcOrd="0" destOrd="0" presId="urn:microsoft.com/office/officeart/2008/layout/HorizontalMultiLevelHierarchy"/>
    <dgm:cxn modelId="{E719F3E8-47D9-48F0-85D6-50CC7C90B117}" srcId="{EEA956A1-9670-44B6-AB9B-FC92EFE2D33C}" destId="{A402B274-59B1-4459-AA8C-FF97FF864EE1}" srcOrd="1" destOrd="0" parTransId="{36778E81-F8B5-46FB-A94A-FE6C9D68D579}" sibTransId="{6B46F30B-8FE5-4B62-8CAE-DD96E1DE6EE8}"/>
    <dgm:cxn modelId="{1C34D8EF-9742-4227-81FF-8A12E14A4A8C}" srcId="{4DC4A08D-FC42-4EE4-A953-5AD881CC1D9F}" destId="{EEA956A1-9670-44B6-AB9B-FC92EFE2D33C}" srcOrd="3" destOrd="0" parTransId="{58990D3F-09E3-4D62-8D02-E396C4D8719F}" sibTransId="{9391B07D-85E5-426A-BFAB-3BB37774778B}"/>
    <dgm:cxn modelId="{A7C7ADF9-23F4-4954-BFE6-4B8E4AF13C77}" type="presOf" srcId="{4DC4A08D-FC42-4EE4-A953-5AD881CC1D9F}" destId="{4CB8E57E-6687-4803-914F-7F0A766CB800}" srcOrd="0" destOrd="0" presId="urn:microsoft.com/office/officeart/2008/layout/HorizontalMultiLevelHierarchy"/>
    <dgm:cxn modelId="{F1309BFA-D24C-4E9C-94F4-BB8B51B7CB3A}" type="presOf" srcId="{AB8DDD27-0B06-4172-B53E-43B36B95CE23}" destId="{EAFF33E8-10AB-4383-BCAE-C9C9F25AC0B0}" srcOrd="0" destOrd="0" presId="urn:microsoft.com/office/officeart/2008/layout/HorizontalMultiLevelHierarchy"/>
    <dgm:cxn modelId="{75F877FC-1D68-4F9D-B1C5-F0252DEC5398}" type="presOf" srcId="{252AD29E-1C4E-4738-B936-816B9C2A6622}" destId="{035BF5ED-7FA8-40A1-8568-1E98363EB354}" srcOrd="0" destOrd="0" presId="urn:microsoft.com/office/officeart/2008/layout/HorizontalMultiLevelHierarchy"/>
    <dgm:cxn modelId="{22568B4C-0330-4878-A906-EB503A249D37}" type="presParOf" srcId="{59E5F5A2-B416-4867-90A7-99FE3C0B2050}" destId="{C641B271-1E7F-4AB2-AEE0-D108DE59DB60}" srcOrd="0" destOrd="0" presId="urn:microsoft.com/office/officeart/2008/layout/HorizontalMultiLevelHierarchy"/>
    <dgm:cxn modelId="{297796AF-1FB3-407B-B62C-D693BF1C210F}" type="presParOf" srcId="{C641B271-1E7F-4AB2-AEE0-D108DE59DB60}" destId="{4CB8E57E-6687-4803-914F-7F0A766CB800}" srcOrd="0" destOrd="0" presId="urn:microsoft.com/office/officeart/2008/layout/HorizontalMultiLevelHierarchy"/>
    <dgm:cxn modelId="{1EE36740-57E9-4D7F-A876-19180AC3E21E}" type="presParOf" srcId="{C641B271-1E7F-4AB2-AEE0-D108DE59DB60}" destId="{E60DFF2C-A69B-4000-ABBC-0D368CEF6968}" srcOrd="1" destOrd="0" presId="urn:microsoft.com/office/officeart/2008/layout/HorizontalMultiLevelHierarchy"/>
    <dgm:cxn modelId="{FD98DAB0-7526-4FB1-A615-8D6FC041D25A}" type="presParOf" srcId="{E60DFF2C-A69B-4000-ABBC-0D368CEF6968}" destId="{035BF5ED-7FA8-40A1-8568-1E98363EB354}" srcOrd="0" destOrd="0" presId="urn:microsoft.com/office/officeart/2008/layout/HorizontalMultiLevelHierarchy"/>
    <dgm:cxn modelId="{7AE0FDD3-E9D2-46BF-B73C-C85ED4D40E43}" type="presParOf" srcId="{035BF5ED-7FA8-40A1-8568-1E98363EB354}" destId="{74514244-B1F2-46F8-889F-946563AD81CA}" srcOrd="0" destOrd="0" presId="urn:microsoft.com/office/officeart/2008/layout/HorizontalMultiLevelHierarchy"/>
    <dgm:cxn modelId="{EA7DFFF9-8A0B-42E8-BFF1-EC24AD226F3E}" type="presParOf" srcId="{E60DFF2C-A69B-4000-ABBC-0D368CEF6968}" destId="{065D9AE3-8B17-4837-B77F-7F4124F75872}" srcOrd="1" destOrd="0" presId="urn:microsoft.com/office/officeart/2008/layout/HorizontalMultiLevelHierarchy"/>
    <dgm:cxn modelId="{7E36756A-5ED7-4A6B-893F-CDABC37E3961}" type="presParOf" srcId="{065D9AE3-8B17-4837-B77F-7F4124F75872}" destId="{11BD3E5C-3FD9-40CF-85EF-61EE8D0D43CF}" srcOrd="0" destOrd="0" presId="urn:microsoft.com/office/officeart/2008/layout/HorizontalMultiLevelHierarchy"/>
    <dgm:cxn modelId="{96DAD02D-CB6C-4F87-A2D2-F3065940F2D7}" type="presParOf" srcId="{065D9AE3-8B17-4837-B77F-7F4124F75872}" destId="{62C9E0D5-FC55-4873-A116-B4AE0C1A9624}" srcOrd="1" destOrd="0" presId="urn:microsoft.com/office/officeart/2008/layout/HorizontalMultiLevelHierarchy"/>
    <dgm:cxn modelId="{3BE556E3-BCF9-4DE0-81DB-BA38023B8148}" type="presParOf" srcId="{E60DFF2C-A69B-4000-ABBC-0D368CEF6968}" destId="{56D17596-D38B-4966-8CEF-03ECF6D0C763}" srcOrd="2" destOrd="0" presId="urn:microsoft.com/office/officeart/2008/layout/HorizontalMultiLevelHierarchy"/>
    <dgm:cxn modelId="{6650BBA9-4E09-410F-BF84-01407244B2D2}" type="presParOf" srcId="{56D17596-D38B-4966-8CEF-03ECF6D0C763}" destId="{95D52AA9-0440-4FD6-9669-0CE501A6EB59}" srcOrd="0" destOrd="0" presId="urn:microsoft.com/office/officeart/2008/layout/HorizontalMultiLevelHierarchy"/>
    <dgm:cxn modelId="{2B5F41CB-7D3A-40D3-BF48-8993388D53AC}" type="presParOf" srcId="{E60DFF2C-A69B-4000-ABBC-0D368CEF6968}" destId="{D4AA4612-563C-4018-909A-A8E231EEED89}" srcOrd="3" destOrd="0" presId="urn:microsoft.com/office/officeart/2008/layout/HorizontalMultiLevelHierarchy"/>
    <dgm:cxn modelId="{7C2995CF-E4A3-4F65-9B09-7477E9F4731F}" type="presParOf" srcId="{D4AA4612-563C-4018-909A-A8E231EEED89}" destId="{C1C75D8C-CD47-42BB-8E6C-416BC10571DF}" srcOrd="0" destOrd="0" presId="urn:microsoft.com/office/officeart/2008/layout/HorizontalMultiLevelHierarchy"/>
    <dgm:cxn modelId="{52EEBB66-3B30-464B-A0D8-2E94201BE114}" type="presParOf" srcId="{D4AA4612-563C-4018-909A-A8E231EEED89}" destId="{B11486FF-F8D5-4E97-A246-36E5F454709D}" srcOrd="1" destOrd="0" presId="urn:microsoft.com/office/officeart/2008/layout/HorizontalMultiLevelHierarchy"/>
    <dgm:cxn modelId="{2AFD8B2D-A3CC-4304-A8D6-4E52D5074F7E}" type="presParOf" srcId="{E60DFF2C-A69B-4000-ABBC-0D368CEF6968}" destId="{62037B94-9938-4E11-B7A0-4831315EF2A9}" srcOrd="4" destOrd="0" presId="urn:microsoft.com/office/officeart/2008/layout/HorizontalMultiLevelHierarchy"/>
    <dgm:cxn modelId="{6C8BEAAC-8417-44DA-B3B3-198385A6A2AA}" type="presParOf" srcId="{62037B94-9938-4E11-B7A0-4831315EF2A9}" destId="{80D6763E-1B1F-4A66-993B-674440B9D4FE}" srcOrd="0" destOrd="0" presId="urn:microsoft.com/office/officeart/2008/layout/HorizontalMultiLevelHierarchy"/>
    <dgm:cxn modelId="{6AC7C230-A5AB-4781-810D-895974627046}" type="presParOf" srcId="{E60DFF2C-A69B-4000-ABBC-0D368CEF6968}" destId="{9DE148BB-7F73-4D5A-85DD-2C3F3120BE44}" srcOrd="5" destOrd="0" presId="urn:microsoft.com/office/officeart/2008/layout/HorizontalMultiLevelHierarchy"/>
    <dgm:cxn modelId="{42AB89BD-7511-4019-8A2D-D9A0F86E9878}" type="presParOf" srcId="{9DE148BB-7F73-4D5A-85DD-2C3F3120BE44}" destId="{9CE05DFA-0EFC-4665-86D1-448ECC71223D}" srcOrd="0" destOrd="0" presId="urn:microsoft.com/office/officeart/2008/layout/HorizontalMultiLevelHierarchy"/>
    <dgm:cxn modelId="{358B9788-161A-4C33-8454-A46AA4D19877}" type="presParOf" srcId="{9DE148BB-7F73-4D5A-85DD-2C3F3120BE44}" destId="{8E55021D-F828-450C-AA32-B93178046E4B}" srcOrd="1" destOrd="0" presId="urn:microsoft.com/office/officeart/2008/layout/HorizontalMultiLevelHierarchy"/>
    <dgm:cxn modelId="{16C22676-8150-4153-876F-B4F22D27B093}" type="presParOf" srcId="{E60DFF2C-A69B-4000-ABBC-0D368CEF6968}" destId="{E1D88C90-D57E-4B6D-A0BA-2A38D6E068E7}" srcOrd="6" destOrd="0" presId="urn:microsoft.com/office/officeart/2008/layout/HorizontalMultiLevelHierarchy"/>
    <dgm:cxn modelId="{31F9BEDB-AAF5-4A51-A497-4DAADF2F130D}" type="presParOf" srcId="{E1D88C90-D57E-4B6D-A0BA-2A38D6E068E7}" destId="{B8AFCB25-8B00-4EEA-BC59-6AA222AE41CD}" srcOrd="0" destOrd="0" presId="urn:microsoft.com/office/officeart/2008/layout/HorizontalMultiLevelHierarchy"/>
    <dgm:cxn modelId="{ED000846-2825-4AC9-B953-DC78476A4EC4}" type="presParOf" srcId="{E60DFF2C-A69B-4000-ABBC-0D368CEF6968}" destId="{05F987DB-B715-4869-B8FA-D460B7919D15}" srcOrd="7" destOrd="0" presId="urn:microsoft.com/office/officeart/2008/layout/HorizontalMultiLevelHierarchy"/>
    <dgm:cxn modelId="{A4DEDD95-1860-4D87-93C2-4F98A2FDFED0}" type="presParOf" srcId="{05F987DB-B715-4869-B8FA-D460B7919D15}" destId="{7F711313-A986-41D8-9B25-793104C29384}" srcOrd="0" destOrd="0" presId="urn:microsoft.com/office/officeart/2008/layout/HorizontalMultiLevelHierarchy"/>
    <dgm:cxn modelId="{5056A5C1-7DD1-4123-8E77-6FCEF29A0638}" type="presParOf" srcId="{05F987DB-B715-4869-B8FA-D460B7919D15}" destId="{FF1C133E-71C4-4EE7-B329-1D41A00C48F3}" srcOrd="1" destOrd="0" presId="urn:microsoft.com/office/officeart/2008/layout/HorizontalMultiLevelHierarchy"/>
    <dgm:cxn modelId="{E74B9E62-999A-4D1F-9A86-0FD34D10E76E}" type="presParOf" srcId="{FF1C133E-71C4-4EE7-B329-1D41A00C48F3}" destId="{193407C6-9846-4D71-AACA-5C2B1A212A27}" srcOrd="0" destOrd="0" presId="urn:microsoft.com/office/officeart/2008/layout/HorizontalMultiLevelHierarchy"/>
    <dgm:cxn modelId="{FEEE350E-08CE-4BE2-86A8-D57E06B00608}" type="presParOf" srcId="{193407C6-9846-4D71-AACA-5C2B1A212A27}" destId="{2D4B1483-29A5-4CFD-9B4A-37D3D5E29BE8}" srcOrd="0" destOrd="0" presId="urn:microsoft.com/office/officeart/2008/layout/HorizontalMultiLevelHierarchy"/>
    <dgm:cxn modelId="{DA67D9B5-E459-4BB3-85C3-04E0018E2A64}" type="presParOf" srcId="{FF1C133E-71C4-4EE7-B329-1D41A00C48F3}" destId="{167BC3E0-56F4-4FD3-BF56-C8585087F312}" srcOrd="1" destOrd="0" presId="urn:microsoft.com/office/officeart/2008/layout/HorizontalMultiLevelHierarchy"/>
    <dgm:cxn modelId="{57EF58F5-9A73-4B5F-BC55-995093A6F92C}" type="presParOf" srcId="{167BC3E0-56F4-4FD3-BF56-C8585087F312}" destId="{6AEA44A2-C708-4134-8AE7-17312B2EFF7C}" srcOrd="0" destOrd="0" presId="urn:microsoft.com/office/officeart/2008/layout/HorizontalMultiLevelHierarchy"/>
    <dgm:cxn modelId="{107462E4-2855-4AA3-AB91-1DD0FB98DCC0}" type="presParOf" srcId="{167BC3E0-56F4-4FD3-BF56-C8585087F312}" destId="{FD3EE277-024E-4892-8FEB-1B18CDD69707}" srcOrd="1" destOrd="0" presId="urn:microsoft.com/office/officeart/2008/layout/HorizontalMultiLevelHierarchy"/>
    <dgm:cxn modelId="{203DA640-10B3-4BA0-AD40-8E10189D1544}" type="presParOf" srcId="{FF1C133E-71C4-4EE7-B329-1D41A00C48F3}" destId="{45F4957D-80D3-47AA-B651-1EF767838729}" srcOrd="2" destOrd="0" presId="urn:microsoft.com/office/officeart/2008/layout/HorizontalMultiLevelHierarchy"/>
    <dgm:cxn modelId="{BF64C549-8397-498F-99C6-B7D55E0F2477}" type="presParOf" srcId="{45F4957D-80D3-47AA-B651-1EF767838729}" destId="{BA1C5D18-91CD-4128-8D8A-4F553B7EF02D}" srcOrd="0" destOrd="0" presId="urn:microsoft.com/office/officeart/2008/layout/HorizontalMultiLevelHierarchy"/>
    <dgm:cxn modelId="{2073DEF7-05D2-4812-B6F9-84ACB826375E}" type="presParOf" srcId="{FF1C133E-71C4-4EE7-B329-1D41A00C48F3}" destId="{C1F0C4F9-3E83-4854-9848-CF0D6C2EA0D5}" srcOrd="3" destOrd="0" presId="urn:microsoft.com/office/officeart/2008/layout/HorizontalMultiLevelHierarchy"/>
    <dgm:cxn modelId="{BEBC760A-4D36-4AD2-A7B2-2DD52E6C15B0}" type="presParOf" srcId="{C1F0C4F9-3E83-4854-9848-CF0D6C2EA0D5}" destId="{573C6833-D054-452B-A1B8-F0C15988D630}" srcOrd="0" destOrd="0" presId="urn:microsoft.com/office/officeart/2008/layout/HorizontalMultiLevelHierarchy"/>
    <dgm:cxn modelId="{4A52D651-803B-40DB-822C-67CFC74C6998}" type="presParOf" srcId="{C1F0C4F9-3E83-4854-9848-CF0D6C2EA0D5}" destId="{E78619B9-7476-4D8A-BA5E-C8B1DB497705}" srcOrd="1" destOrd="0" presId="urn:microsoft.com/office/officeart/2008/layout/HorizontalMultiLevelHierarchy"/>
    <dgm:cxn modelId="{0F526417-1E93-44EC-B848-11E1E25DFAF8}" type="presParOf" srcId="{E60DFF2C-A69B-4000-ABBC-0D368CEF6968}" destId="{B81FDD02-4468-4E13-9EB0-08A3E81D663E}" srcOrd="8" destOrd="0" presId="urn:microsoft.com/office/officeart/2008/layout/HorizontalMultiLevelHierarchy"/>
    <dgm:cxn modelId="{86CE25A7-AF58-4C38-BE4B-1C588333BCFF}" type="presParOf" srcId="{B81FDD02-4468-4E13-9EB0-08A3E81D663E}" destId="{FDEA60D1-DD16-4BE3-812C-555F0A452DBF}" srcOrd="0" destOrd="0" presId="urn:microsoft.com/office/officeart/2008/layout/HorizontalMultiLevelHierarchy"/>
    <dgm:cxn modelId="{57834C3F-60DB-4D4F-8F25-869C34C6AB40}" type="presParOf" srcId="{E60DFF2C-A69B-4000-ABBC-0D368CEF6968}" destId="{E80416EC-7FA6-42FB-8C84-6189028B2447}" srcOrd="9" destOrd="0" presId="urn:microsoft.com/office/officeart/2008/layout/HorizontalMultiLevelHierarchy"/>
    <dgm:cxn modelId="{A69BC0D3-9BB8-41FA-BCF4-767CFD9B0EE2}" type="presParOf" srcId="{E80416EC-7FA6-42FB-8C84-6189028B2447}" destId="{EAFF33E8-10AB-4383-BCAE-C9C9F25AC0B0}" srcOrd="0" destOrd="0" presId="urn:microsoft.com/office/officeart/2008/layout/HorizontalMultiLevelHierarchy"/>
    <dgm:cxn modelId="{1DCF46D5-0759-460D-BA30-98302B157753}" type="presParOf" srcId="{E80416EC-7FA6-42FB-8C84-6189028B2447}" destId="{87137952-FCCD-4B04-8475-25B15E21183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FDD02-4468-4E13-9EB0-08A3E81D663E}">
      <dsp:nvSpPr>
        <dsp:cNvPr id="0" name=""/>
        <dsp:cNvSpPr/>
      </dsp:nvSpPr>
      <dsp:spPr>
        <a:xfrm>
          <a:off x="1204615" y="2538265"/>
          <a:ext cx="554340" cy="2112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7170" y="0"/>
              </a:lnTo>
              <a:lnTo>
                <a:pt x="277170" y="2112578"/>
              </a:lnTo>
              <a:lnTo>
                <a:pt x="554340" y="21125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27183" y="3539952"/>
        <a:ext cx="109204" cy="109204"/>
      </dsp:txXfrm>
    </dsp:sp>
    <dsp:sp modelId="{45F4957D-80D3-47AA-B651-1EF767838729}">
      <dsp:nvSpPr>
        <dsp:cNvPr id="0" name=""/>
        <dsp:cNvSpPr/>
      </dsp:nvSpPr>
      <dsp:spPr>
        <a:xfrm>
          <a:off x="7874080" y="3594555"/>
          <a:ext cx="554340" cy="5281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7170" y="0"/>
              </a:lnTo>
              <a:lnTo>
                <a:pt x="277170" y="528144"/>
              </a:lnTo>
              <a:lnTo>
                <a:pt x="554340" y="5281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8132109" y="3839485"/>
        <a:ext cx="38282" cy="38282"/>
      </dsp:txXfrm>
    </dsp:sp>
    <dsp:sp modelId="{193407C6-9846-4D71-AACA-5C2B1A212A27}">
      <dsp:nvSpPr>
        <dsp:cNvPr id="0" name=""/>
        <dsp:cNvSpPr/>
      </dsp:nvSpPr>
      <dsp:spPr>
        <a:xfrm>
          <a:off x="7874080" y="3066410"/>
          <a:ext cx="554340" cy="528144"/>
        </a:xfrm>
        <a:custGeom>
          <a:avLst/>
          <a:gdLst/>
          <a:ahLst/>
          <a:cxnLst/>
          <a:rect l="0" t="0" r="0" b="0"/>
          <a:pathLst>
            <a:path>
              <a:moveTo>
                <a:pt x="0" y="528144"/>
              </a:moveTo>
              <a:lnTo>
                <a:pt x="277170" y="528144"/>
              </a:lnTo>
              <a:lnTo>
                <a:pt x="277170" y="0"/>
              </a:lnTo>
              <a:lnTo>
                <a:pt x="55434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8132109" y="3311341"/>
        <a:ext cx="38282" cy="38282"/>
      </dsp:txXfrm>
    </dsp:sp>
    <dsp:sp modelId="{E1D88C90-D57E-4B6D-A0BA-2A38D6E068E7}">
      <dsp:nvSpPr>
        <dsp:cNvPr id="0" name=""/>
        <dsp:cNvSpPr/>
      </dsp:nvSpPr>
      <dsp:spPr>
        <a:xfrm>
          <a:off x="1204615" y="2538265"/>
          <a:ext cx="554340" cy="1056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7170" y="0"/>
              </a:lnTo>
              <a:lnTo>
                <a:pt x="277170" y="1056289"/>
              </a:lnTo>
              <a:lnTo>
                <a:pt x="554340" y="10562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51963" y="3036587"/>
        <a:ext cx="59645" cy="59645"/>
      </dsp:txXfrm>
    </dsp:sp>
    <dsp:sp modelId="{62037B94-9938-4E11-B7A0-4831315EF2A9}">
      <dsp:nvSpPr>
        <dsp:cNvPr id="0" name=""/>
        <dsp:cNvSpPr/>
      </dsp:nvSpPr>
      <dsp:spPr>
        <a:xfrm>
          <a:off x="1204615" y="2492546"/>
          <a:ext cx="5543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434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67927" y="2524407"/>
        <a:ext cx="27717" cy="27717"/>
      </dsp:txXfrm>
    </dsp:sp>
    <dsp:sp modelId="{56D17596-D38B-4966-8CEF-03ECF6D0C763}">
      <dsp:nvSpPr>
        <dsp:cNvPr id="0" name=""/>
        <dsp:cNvSpPr/>
      </dsp:nvSpPr>
      <dsp:spPr>
        <a:xfrm>
          <a:off x="1204615" y="1481976"/>
          <a:ext cx="554340" cy="1056289"/>
        </a:xfrm>
        <a:custGeom>
          <a:avLst/>
          <a:gdLst/>
          <a:ahLst/>
          <a:cxnLst/>
          <a:rect l="0" t="0" r="0" b="0"/>
          <a:pathLst>
            <a:path>
              <a:moveTo>
                <a:pt x="0" y="1056289"/>
              </a:moveTo>
              <a:lnTo>
                <a:pt x="277170" y="1056289"/>
              </a:lnTo>
              <a:lnTo>
                <a:pt x="277170" y="0"/>
              </a:lnTo>
              <a:lnTo>
                <a:pt x="55434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51963" y="1980298"/>
        <a:ext cx="59645" cy="59645"/>
      </dsp:txXfrm>
    </dsp:sp>
    <dsp:sp modelId="{035BF5ED-7FA8-40A1-8568-1E98363EB354}">
      <dsp:nvSpPr>
        <dsp:cNvPr id="0" name=""/>
        <dsp:cNvSpPr/>
      </dsp:nvSpPr>
      <dsp:spPr>
        <a:xfrm>
          <a:off x="1204615" y="425687"/>
          <a:ext cx="554340" cy="2112578"/>
        </a:xfrm>
        <a:custGeom>
          <a:avLst/>
          <a:gdLst/>
          <a:ahLst/>
          <a:cxnLst/>
          <a:rect l="0" t="0" r="0" b="0"/>
          <a:pathLst>
            <a:path>
              <a:moveTo>
                <a:pt x="0" y="2112578"/>
              </a:moveTo>
              <a:lnTo>
                <a:pt x="277170" y="2112578"/>
              </a:lnTo>
              <a:lnTo>
                <a:pt x="277170" y="0"/>
              </a:lnTo>
              <a:lnTo>
                <a:pt x="55434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27183" y="1427374"/>
        <a:ext cx="109204" cy="109204"/>
      </dsp:txXfrm>
    </dsp:sp>
    <dsp:sp modelId="{4CB8E57E-6687-4803-914F-7F0A766CB800}">
      <dsp:nvSpPr>
        <dsp:cNvPr id="0" name=""/>
        <dsp:cNvSpPr/>
      </dsp:nvSpPr>
      <dsp:spPr>
        <a:xfrm rot="16200000">
          <a:off x="-1441666" y="2115750"/>
          <a:ext cx="4447533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ЭТАПЫ РАЗРАБОТКИ ПО</a:t>
          </a:r>
        </a:p>
      </dsp:txBody>
      <dsp:txXfrm>
        <a:off x="-1441666" y="2115750"/>
        <a:ext cx="4447533" cy="845031"/>
      </dsp:txXfrm>
    </dsp:sp>
    <dsp:sp modelId="{11BD3E5C-3FD9-40CF-85EF-61EE8D0D43CF}">
      <dsp:nvSpPr>
        <dsp:cNvPr id="0" name=""/>
        <dsp:cNvSpPr/>
      </dsp:nvSpPr>
      <dsp:spPr>
        <a:xfrm>
          <a:off x="1758956" y="3172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Анализ требований к системе и определение спецификаций (6 %)</a:t>
          </a:r>
          <a:endParaRPr lang="ru-RU" sz="2400" kern="1200" dirty="0"/>
        </a:p>
      </dsp:txBody>
      <dsp:txXfrm>
        <a:off x="1758956" y="3172"/>
        <a:ext cx="6115124" cy="845031"/>
      </dsp:txXfrm>
    </dsp:sp>
    <dsp:sp modelId="{C1C75D8C-CD47-42BB-8E6C-416BC10571DF}">
      <dsp:nvSpPr>
        <dsp:cNvPr id="0" name=""/>
        <dsp:cNvSpPr/>
      </dsp:nvSpPr>
      <dsp:spPr>
        <a:xfrm>
          <a:off x="1758956" y="1059461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Проектирование (5 %)</a:t>
          </a:r>
          <a:endParaRPr lang="ru-RU" sz="2400" kern="1200" dirty="0"/>
        </a:p>
      </dsp:txBody>
      <dsp:txXfrm>
        <a:off x="1758956" y="1059461"/>
        <a:ext cx="6115124" cy="845031"/>
      </dsp:txXfrm>
    </dsp:sp>
    <dsp:sp modelId="{9CE05DFA-0EFC-4665-86D1-448ECC71223D}">
      <dsp:nvSpPr>
        <dsp:cNvPr id="0" name=""/>
        <dsp:cNvSpPr/>
      </dsp:nvSpPr>
      <dsp:spPr>
        <a:xfrm>
          <a:off x="1758956" y="2115750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Кодирование (7 %)</a:t>
          </a:r>
          <a:endParaRPr lang="ru-RU" sz="2400" kern="1200" dirty="0"/>
        </a:p>
      </dsp:txBody>
      <dsp:txXfrm>
        <a:off x="1758956" y="2115750"/>
        <a:ext cx="6115124" cy="845031"/>
      </dsp:txXfrm>
    </dsp:sp>
    <dsp:sp modelId="{7F711313-A986-41D8-9B25-793104C29384}">
      <dsp:nvSpPr>
        <dsp:cNvPr id="0" name=""/>
        <dsp:cNvSpPr/>
      </dsp:nvSpPr>
      <dsp:spPr>
        <a:xfrm>
          <a:off x="1758956" y="3172039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Тестирование (15%)</a:t>
          </a:r>
          <a:endParaRPr lang="ru-RU" sz="2400" kern="1200" dirty="0"/>
        </a:p>
      </dsp:txBody>
      <dsp:txXfrm>
        <a:off x="1758956" y="3172039"/>
        <a:ext cx="6115124" cy="845031"/>
      </dsp:txXfrm>
    </dsp:sp>
    <dsp:sp modelId="{6AEA44A2-C708-4134-8AE7-17312B2EFF7C}">
      <dsp:nvSpPr>
        <dsp:cNvPr id="0" name=""/>
        <dsp:cNvSpPr/>
      </dsp:nvSpPr>
      <dsp:spPr>
        <a:xfrm>
          <a:off x="8428421" y="2643894"/>
          <a:ext cx="2771702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>
              <a:solidFill>
                <a:srgbClr val="F8F8F8"/>
              </a:solidFill>
            </a:rPr>
            <a:t>Автономное (8 %)</a:t>
          </a:r>
          <a:endParaRPr lang="ru-RU" sz="2400" kern="1200" dirty="0"/>
        </a:p>
      </dsp:txBody>
      <dsp:txXfrm>
        <a:off x="8428421" y="2643894"/>
        <a:ext cx="2771702" cy="845031"/>
      </dsp:txXfrm>
    </dsp:sp>
    <dsp:sp modelId="{573C6833-D054-452B-A1B8-F0C15988D630}">
      <dsp:nvSpPr>
        <dsp:cNvPr id="0" name=""/>
        <dsp:cNvSpPr/>
      </dsp:nvSpPr>
      <dsp:spPr>
        <a:xfrm>
          <a:off x="8428421" y="3700184"/>
          <a:ext cx="2771702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Комплексное (7 %)</a:t>
          </a:r>
          <a:endParaRPr lang="ru-RU" sz="2400" kern="1200" dirty="0"/>
        </a:p>
      </dsp:txBody>
      <dsp:txXfrm>
        <a:off x="8428421" y="3700184"/>
        <a:ext cx="2771702" cy="845031"/>
      </dsp:txXfrm>
    </dsp:sp>
    <dsp:sp modelId="{EAFF33E8-10AB-4383-BCAE-C9C9F25AC0B0}">
      <dsp:nvSpPr>
        <dsp:cNvPr id="0" name=""/>
        <dsp:cNvSpPr/>
      </dsp:nvSpPr>
      <dsp:spPr>
        <a:xfrm>
          <a:off x="1758956" y="4228328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Эксплуатация и сопровождение (67 %)</a:t>
          </a:r>
          <a:endParaRPr lang="ru-RU" sz="2400" kern="1200" dirty="0"/>
        </a:p>
      </dsp:txBody>
      <dsp:txXfrm>
        <a:off x="1758956" y="4228328"/>
        <a:ext cx="6115124" cy="845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33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33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83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653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23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57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60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65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61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4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65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8FF1C-7C66-463B-B4DE-B36E58BBCBB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B62C4-33FF-49E6-84F3-8B4E112D8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24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7164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Для просмотра нажмите клавишу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F5</a:t>
            </a:r>
            <a:endParaRPr lang="ru-RU" sz="3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0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t="13638" r="12024" b="12506"/>
          <a:stretch/>
        </p:blipFill>
        <p:spPr>
          <a:xfrm>
            <a:off x="2111829" y="563632"/>
            <a:ext cx="7968343" cy="4700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2651" y="5802923"/>
            <a:ext cx="5966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</a:rPr>
              <a:t>Первый вуз корпораций!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412275" y="5978637"/>
            <a:ext cx="487680" cy="4180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079350" y="5978637"/>
            <a:ext cx="487680" cy="4180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3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AMPEXT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450"/>
                            </p:stCondLst>
                            <p:childTnLst>
                              <p:par>
                                <p:cTn id="15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9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AMPEXT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0" y="5355771"/>
            <a:ext cx="12155148" cy="1502229"/>
          </a:xfrm>
          <a:prstGeom prst="rect">
            <a:avLst/>
          </a:prstGeom>
        </p:spPr>
      </p:pic>
      <p:pic>
        <p:nvPicPr>
          <p:cNvPr id="13" name="Picture 2" descr="http://i.ytimg.com/vi/eo8tYOG8WRE/maxresdefault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11"/>
          <a:stretch/>
        </p:blipFill>
        <p:spPr bwMode="auto">
          <a:xfrm rot="10800000">
            <a:off x="0" y="-762836"/>
            <a:ext cx="12192000" cy="249555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3521324" y="6395072"/>
            <a:ext cx="514935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ru-RU" sz="14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99FF"/>
                </a:solidFill>
                <a:effectLst/>
                <a:latin typeface="Arial" pitchFamily="34" charset="0"/>
                <a:cs typeface="Arial" pitchFamily="34" charset="0"/>
              </a:rPr>
              <a:t>Преподаватель: </a:t>
            </a:r>
            <a:r>
              <a:rPr lang="ru-RU" sz="1400" b="1" dirty="0" err="1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99FF"/>
                </a:solidFill>
                <a:effectLst/>
                <a:latin typeface="Arial" pitchFamily="34" charset="0"/>
                <a:cs typeface="Arial" pitchFamily="34" charset="0"/>
              </a:rPr>
              <a:t>к.п.н</a:t>
            </a:r>
            <a:r>
              <a:rPr lang="ru-RU" sz="14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99FF"/>
                </a:solidFill>
                <a:effectLst/>
                <a:latin typeface="Arial" pitchFamily="34" charset="0"/>
                <a:cs typeface="Arial" pitchFamily="34" charset="0"/>
              </a:rPr>
              <a:t>., доцент, Спирин Игорь Сергеевич</a:t>
            </a:r>
          </a:p>
        </p:txBody>
      </p: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51078"/>
          </a:xfrm>
        </p:spPr>
        <p:txBody>
          <a:bodyPr>
            <a:noAutofit/>
          </a:bodyPr>
          <a:lstStyle/>
          <a:p>
            <a:pPr algn="ctr"/>
            <a:r>
              <a:rPr lang="ru-RU" sz="5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СИСТЕМНАЯ ИНЖЕНЕНРИЯ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85" y="2388896"/>
            <a:ext cx="12000000" cy="400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549443" y="6252812"/>
            <a:ext cx="2746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studsworkfortsogu@mail.ru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sym typeface="Webdings" panose="05030102010509060703" pitchFamily="18" charset="2"/>
              </a:rPr>
              <a:t>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sym typeface="Webdings" panose="05030102010509060703" pitchFamily="18" charset="2"/>
              </a:rPr>
              <a:t> </a:t>
            </a:r>
            <a:endParaRPr lang="ru-RU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190889" y="6390966"/>
            <a:ext cx="2323289" cy="346466"/>
            <a:chOff x="190889" y="6390966"/>
            <a:chExt cx="2323289" cy="346466"/>
          </a:xfrm>
        </p:grpSpPr>
        <p:pic>
          <p:nvPicPr>
            <p:cNvPr id="1026" name="Picture 2" descr="https://angidrit.ru/upload/information_system_4/5/9/1/item_591/item_591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889" y="6390966"/>
              <a:ext cx="346466" cy="346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/>
            <p:cNvSpPr/>
            <p:nvPr/>
          </p:nvSpPr>
          <p:spPr>
            <a:xfrm>
              <a:off x="537355" y="6410311"/>
              <a:ext cx="197682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https://vk.com/id19907146</a:t>
              </a:r>
            </a:p>
          </p:txBody>
        </p:sp>
      </p:grp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817329" y="849429"/>
            <a:ext cx="1073916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Arial Black" pitchFamily="34" charset="0"/>
              </a:rPr>
              <a:t>ЛЕКЦИЯ № 1</a:t>
            </a:r>
          </a:p>
          <a:p>
            <a:pPr algn="ctr"/>
            <a:r>
              <a:rPr lang="ru-RU" sz="32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cs typeface="Arial" pitchFamily="34" charset="0"/>
              </a:rPr>
              <a:t>Тема: «Основные понятия программной  инженерии»</a:t>
            </a:r>
          </a:p>
        </p:txBody>
      </p:sp>
      <p:pic>
        <p:nvPicPr>
          <p:cNvPr id="2" name="Picture 2" descr="http://semia-automation.com/Archivos/Galeria%207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" t="3551" r="1598" b="2329"/>
          <a:stretch/>
        </p:blipFill>
        <p:spPr bwMode="auto">
          <a:xfrm>
            <a:off x="7019939" y="1773171"/>
            <a:ext cx="4535060" cy="330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gigaom.com/wp-content/uploads/sites/1/2009/07/interfacebuilder.png?w=14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110" y="1968216"/>
            <a:ext cx="1605466" cy="16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4" t="13037" r="2908" b="20842"/>
          <a:stretch/>
        </p:blipFill>
        <p:spPr>
          <a:xfrm>
            <a:off x="121534" y="2587826"/>
            <a:ext cx="1721791" cy="99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https://avatars.mds.yandex.net/get-pdb/467038/b2dc3b9b-6a84-4c97-8700-9f47d376a4d1/s1200?webp=false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9"/>
          <a:stretch/>
        </p:blipFill>
        <p:spPr bwMode="auto">
          <a:xfrm rot="2437836">
            <a:off x="1094020" y="2215387"/>
            <a:ext cx="1864417" cy="285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kolspb.ru/wp-content/uploads/2017/07/176x132-1024x921.jpg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6818">
            <a:off x="1561635" y="2003096"/>
            <a:ext cx="3361538" cy="302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4.bp.blogspot.com/-cekCkbKagqA/WLflwsqfv-I/AAAAAAAAAEA/5ZhaKSqiSaIE3HhlVOTkoDarY-WrqKSCACLcB/w1200-h630-p-k-no-nu/development.jpg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985" y="1967798"/>
            <a:ext cx="6515239" cy="342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60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buntu_touch_supr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75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2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75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2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75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750"/>
                            </p:stCondLst>
                            <p:childTnLst>
                              <p:par>
                                <p:cTn id="66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8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allAtOnce"/>
      <p:bldP spid="50" grpId="1" build="allAtOnce"/>
      <p:bldP spid="48" grpId="0"/>
      <p:bldP spid="3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инженерии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760506" cy="452596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Инженерное дело 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</a:rPr>
              <a:t>(от фр. </a:t>
            </a:r>
            <a:r>
              <a:rPr lang="ru-RU" sz="2400" b="1" dirty="0" err="1">
                <a:solidFill>
                  <a:srgbClr val="0070C0"/>
                </a:solidFill>
                <a:latin typeface="Arial" panose="020B0604020202020204" pitchFamily="34" charset="0"/>
              </a:rPr>
              <a:t>ingénierie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</a:rPr>
              <a:t>; </a:t>
            </a:r>
            <a:r>
              <a:rPr lang="ru-RU" sz="2400" b="1" dirty="0" err="1">
                <a:solidFill>
                  <a:srgbClr val="0070C0"/>
                </a:solidFill>
                <a:latin typeface="Arial" panose="020B0604020202020204" pitchFamily="34" charset="0"/>
              </a:rPr>
              <a:t>син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</a:rPr>
              <a:t>. инженерия, инженерная деятельность, инженерно-техническая деятельность; инжиниринг от англ. </a:t>
            </a:r>
            <a:r>
              <a:rPr lang="ru-RU" sz="2400" b="1" dirty="0" err="1">
                <a:solidFill>
                  <a:srgbClr val="0070C0"/>
                </a:solidFill>
                <a:latin typeface="Arial" panose="020B0604020202020204" pitchFamily="34" charset="0"/>
              </a:rPr>
              <a:t>engineering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</a:rPr>
              <a:t> ← от лат. </a:t>
            </a:r>
            <a:r>
              <a:rPr lang="ru-RU" sz="2400" b="1" dirty="0" err="1">
                <a:solidFill>
                  <a:srgbClr val="0070C0"/>
                </a:solidFill>
                <a:latin typeface="Arial" panose="020B0604020202020204" pitchFamily="34" charset="0"/>
              </a:rPr>
              <a:t>ingenium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</a:rPr>
              <a:t> - «искусность» и лат. </a:t>
            </a:r>
            <a:r>
              <a:rPr lang="ru-RU" sz="2400" b="1" dirty="0" err="1">
                <a:solidFill>
                  <a:srgbClr val="0070C0"/>
                </a:solidFill>
                <a:latin typeface="Arial" panose="020B0604020202020204" pitchFamily="34" charset="0"/>
              </a:rPr>
              <a:t>ingeniare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</a:rPr>
              <a:t> - «изловчиться, разработать» — «изобретательность», «выдумка», «знания», «искусный»)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- </a:t>
            </a:r>
            <a:r>
              <a:rPr lang="ru-RU" sz="2400" i="1" dirty="0">
                <a:solidFill>
                  <a:srgbClr val="0070C0"/>
                </a:solidFill>
                <a:latin typeface="Arial" panose="020B0604020202020204" pitchFamily="34" charset="0"/>
              </a:rPr>
              <a:t>область технической деятельности, включающая в себя целый ряд специализированных областей и дисциплин, направленная на практическое приложение и применение научных, экономических, социальных и практических знаний с целью обращения природных ресурсов на пользу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247192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Виды инженерной деятельности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42B9FA-5BDB-4102-BA7F-DC044E54FD0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00702" y="1118775"/>
            <a:ext cx="3115248" cy="57225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FDD741-5465-4110-8BCF-4F31ABBD3CE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840" y="1988983"/>
            <a:ext cx="7310862" cy="456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6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Виды инженерной деятельности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C9414A-7EE8-455B-8180-66760709EFF8}"/>
              </a:ext>
            </a:extLst>
          </p:cNvPr>
          <p:cNvSpPr/>
          <p:nvPr/>
        </p:nvSpPr>
        <p:spPr>
          <a:xfrm>
            <a:off x="132203" y="1257350"/>
            <a:ext cx="11523643" cy="5600572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Инженер-гидротехник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Инженер-геодезист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Инженер-испытатель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Инженер-конструктор (</a:t>
            </a:r>
            <a:r>
              <a:rPr lang="en-US" dirty="0">
                <a:solidFill>
                  <a:srgbClr val="002060"/>
                </a:solidFill>
              </a:rPr>
              <a:t>Designer).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Инженер-механик (</a:t>
            </a:r>
            <a:r>
              <a:rPr lang="en-US" dirty="0">
                <a:solidFill>
                  <a:srgbClr val="0070C0"/>
                </a:solidFill>
              </a:rPr>
              <a:t>Mechanical engineer). </a:t>
            </a:r>
            <a:r>
              <a:rPr lang="ru-RU" dirty="0">
                <a:solidFill>
                  <a:srgbClr val="0070C0"/>
                </a:solidFill>
              </a:rPr>
              <a:t>Базовая инженерная квалификация.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</a:t>
            </a:r>
            <a:r>
              <a:rPr lang="ru-RU" dirty="0" err="1">
                <a:solidFill>
                  <a:srgbClr val="0070C0"/>
                </a:solidFill>
              </a:rPr>
              <a:t>мехатроник</a:t>
            </a:r>
            <a:endParaRPr lang="ru-RU" dirty="0">
              <a:solidFill>
                <a:srgbClr val="0070C0"/>
              </a:solidFill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Инженер-программист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Инженер-проектировщик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Инженер-системотехник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Инженер-строитель (</a:t>
            </a:r>
            <a:r>
              <a:rPr lang="en-US" dirty="0">
                <a:solidFill>
                  <a:srgbClr val="0070C0"/>
                </a:solidFill>
              </a:rPr>
              <a:t>civil engineer)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Инженер-теплотехник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Инженер-технолог (М</a:t>
            </a:r>
            <a:r>
              <a:rPr lang="en-US" dirty="0" err="1">
                <a:solidFill>
                  <a:srgbClr val="0070C0"/>
                </a:solidFill>
              </a:rPr>
              <a:t>anufacturing</a:t>
            </a:r>
            <a:r>
              <a:rPr lang="en-US" dirty="0">
                <a:solidFill>
                  <a:srgbClr val="0070C0"/>
                </a:solidFill>
              </a:rPr>
              <a:t> engineer).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Инженер-эколог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Инженер-электрик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Инженер-электротехник (</a:t>
            </a:r>
            <a:r>
              <a:rPr lang="en-US" dirty="0">
                <a:solidFill>
                  <a:srgbClr val="0070C0"/>
                </a:solidFill>
              </a:rPr>
              <a:t>electrical engineer).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Инженер-энергетик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Инженер-электронщик</a:t>
            </a:r>
          </a:p>
        </p:txBody>
      </p:sp>
    </p:spTree>
    <p:extLst>
      <p:ext uri="{BB962C8B-B14F-4D97-AF65-F5344CB8AC3E}">
        <p14:creationId xmlns:p14="http://schemas.microsoft.com/office/powerpoint/2010/main" val="153418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программной инженерии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Предметом программной инженерии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является круг вопросов и проблем, возникающих  при промышленной разработке программных продуктов. Это коммерческий характер разрабатываемых программ, их сложность, работа в коллективе и др.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Целью программной инженерии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является сокращение сроков и стоимости разработки программ.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Метод программной инженерии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- это системный и структурный подход к созданию ПО</a:t>
            </a:r>
          </a:p>
        </p:txBody>
      </p:sp>
    </p:spTree>
    <p:extLst>
      <p:ext uri="{BB962C8B-B14F-4D97-AF65-F5344CB8AC3E}">
        <p14:creationId xmlns:p14="http://schemas.microsoft.com/office/powerpoint/2010/main" val="241440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программной инженерии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Программная инженерия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(англ.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software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engineering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) - установление и использование обоснованных инженерных принципов (методов) для  экономного  получения  ПО,  которое 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надежно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 и  работает  на  реальных машинах. [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Bauer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1972]. </a:t>
            </a:r>
          </a:p>
        </p:txBody>
      </p:sp>
    </p:spTree>
    <p:extLst>
      <p:ext uri="{BB962C8B-B14F-4D97-AF65-F5344CB8AC3E}">
        <p14:creationId xmlns:p14="http://schemas.microsoft.com/office/powerpoint/2010/main" val="273242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программной инженерии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Программная инженерия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(англ.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software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engineering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) - форма  инженерии,  которая  применяет  принципы  информатики  (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computer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science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)  и математики  для  рентабельного  решения  проблем ПО.  [CMU/SEI-90-TR-003] </a:t>
            </a:r>
          </a:p>
        </p:txBody>
      </p:sp>
    </p:spTree>
    <p:extLst>
      <p:ext uri="{BB962C8B-B14F-4D97-AF65-F5344CB8AC3E}">
        <p14:creationId xmlns:p14="http://schemas.microsoft.com/office/powerpoint/2010/main" val="10820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программной инженерии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5092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Программная инженерия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(англ.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software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engineering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) - дисциплина,  целью  которой  является  создание  качественного  ПО,  которое завершается  вовремя,  не  превышает  выделенных  бюджетных  средств  и удовлетворяет выдвигаемым требованиям [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Schach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, 99]</a:t>
            </a:r>
          </a:p>
        </p:txBody>
      </p:sp>
    </p:spTree>
    <p:extLst>
      <p:ext uri="{BB962C8B-B14F-4D97-AF65-F5344CB8AC3E}">
        <p14:creationId xmlns:p14="http://schemas.microsoft.com/office/powerpoint/2010/main" val="132799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программной инженерии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5092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Программная инженерия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(англ.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software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</a:rPr>
              <a:t>engineering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</a:rPr>
              <a:t>) - приложение систематического, дисциплинированного, измеримого подхода к разработке, функционированию и сопровождению программного обеспечения, а также исследованию этих подходов; то есть, приложение дисциплины инженерии к программному обеспечению (ISO/IEC/IEEE 24765-2010)</a:t>
            </a:r>
          </a:p>
        </p:txBody>
      </p:sp>
    </p:spTree>
    <p:extLst>
      <p:ext uri="{BB962C8B-B14F-4D97-AF65-F5344CB8AC3E}">
        <p14:creationId xmlns:p14="http://schemas.microsoft.com/office/powerpoint/2010/main" val="298952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системы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Сегодня широко используются понятия 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системного (в том числе и процессного) подхода,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адаптированные к разработке ПО.</a:t>
            </a:r>
            <a:endParaRPr lang="ru-RU" sz="24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совокупность взаимодействующих единиц – элементов, функционирующих совместно для достижения определённых целей.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Элемент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относительно самостоятельная структурная «единица» системы.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Части системы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компонент, модуль, подсистема. Сама система может быть частью надсистемы.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65740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Базовые понятия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76E435-ED26-468A-8C9D-33E03285B6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47536" y="1636946"/>
            <a:ext cx="7096928" cy="507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6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системы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совокупность взаимосвязанных единиц – операций, преобразующих некоторые входы в выходы для достижения определённых результатов.</a:t>
            </a:r>
            <a:r>
              <a:rPr lang="ru-RU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Операция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относительно самостоятельная структурная «единица» процесса.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Части процесса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задача, действие, </a:t>
            </a:r>
            <a:r>
              <a:rPr lang="ru-RU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подпроцесс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 может быть частью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надпроцесса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Понятия «система» и «процесс» тесно связаны: система выполняет некоторый процесс, процесс представляет собой функционирование некоторой системы.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рассматриваемого объекта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задаёт структурную точку зрения на этот объект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– функциональную точку зрения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7635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Основными понятиями программирования являются 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и программа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1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Программирование</a:t>
            </a:r>
            <a:r>
              <a:rPr lang="ru-RU" sz="2000" dirty="0"/>
              <a:t> </a:t>
            </a:r>
            <a:r>
              <a:rPr lang="ru-RU" sz="2000" dirty="0">
                <a:solidFill>
                  <a:srgbClr val="0070C0"/>
                </a:solidFill>
              </a:rPr>
              <a:t>- процесс создания компьютерных программ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</a:rPr>
              <a:t>Программисты</a:t>
            </a:r>
            <a:r>
              <a:rPr lang="ru-RU" sz="2000" dirty="0"/>
              <a:t> </a:t>
            </a:r>
            <a:r>
              <a:rPr lang="ru-RU" sz="2000" dirty="0">
                <a:solidFill>
                  <a:srgbClr val="0070C0"/>
                </a:solidFill>
              </a:rPr>
              <a:t>–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ru-RU" sz="2000" dirty="0">
                <a:solidFill>
                  <a:srgbClr val="0070C0"/>
                </a:solidFill>
              </a:rPr>
              <a:t>программист создает компьютерные программы.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конечный упорядоченный набор чётко определённых правил для решения проблемы. Решаемая проблема возникает или рассматривается в рамках какой-либо предметной области.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1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000" dirty="0">
                <a:solidFill>
                  <a:srgbClr val="0070C0"/>
                </a:solidFill>
              </a:rPr>
              <a:t> формальный язык, предназначенный для записи компьютерных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10376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Этапы развития программирования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06478" y="1623376"/>
            <a:ext cx="1166468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3600"/>
              </a:spcAft>
              <a:buFontTx/>
              <a:buNone/>
            </a:pPr>
            <a:r>
              <a:rPr lang="ru-RU" altLang="ru-RU" sz="2400" b="1" dirty="0">
                <a:solidFill>
                  <a:srgbClr val="FF0000"/>
                </a:solidFill>
              </a:rPr>
              <a:t>1 ЭТАП</a:t>
            </a:r>
            <a:r>
              <a:rPr lang="ru-RU" altLang="ru-RU" sz="2400" dirty="0">
                <a:solidFill>
                  <a:srgbClr val="FF0000"/>
                </a:solidFill>
              </a:rPr>
              <a:t> </a:t>
            </a:r>
            <a:r>
              <a:rPr lang="ru-RU" altLang="ru-RU" sz="2400" dirty="0">
                <a:solidFill>
                  <a:srgbClr val="0070C0"/>
                </a:solidFill>
              </a:rPr>
              <a:t>- «Стихийное» программирование (до середины 60х годов</a:t>
            </a:r>
            <a:r>
              <a:rPr lang="en-US" altLang="ru-RU" sz="2400" dirty="0">
                <a:solidFill>
                  <a:srgbClr val="0070C0"/>
                </a:solidFill>
              </a:rPr>
              <a:t> XX</a:t>
            </a:r>
            <a:r>
              <a:rPr lang="ru-RU" altLang="ru-RU" sz="2400" dirty="0">
                <a:solidFill>
                  <a:srgbClr val="0070C0"/>
                </a:solidFill>
              </a:rPr>
              <a:t> века)</a:t>
            </a:r>
          </a:p>
          <a:p>
            <a:pPr>
              <a:lnSpc>
                <a:spcPct val="150000"/>
              </a:lnSpc>
              <a:spcAft>
                <a:spcPts val="3600"/>
              </a:spcAft>
              <a:buFontTx/>
              <a:buNone/>
            </a:pPr>
            <a:r>
              <a:rPr lang="ru-RU" altLang="ru-RU" sz="2400" b="1" dirty="0">
                <a:solidFill>
                  <a:srgbClr val="FF0000"/>
                </a:solidFill>
              </a:rPr>
              <a:t>2 ЭТАП</a:t>
            </a:r>
            <a:r>
              <a:rPr lang="ru-RU" altLang="ru-RU" sz="2400" dirty="0">
                <a:solidFill>
                  <a:srgbClr val="FF0000"/>
                </a:solidFill>
              </a:rPr>
              <a:t> </a:t>
            </a:r>
            <a:r>
              <a:rPr lang="ru-RU" altLang="ru-RU" sz="2400" dirty="0">
                <a:solidFill>
                  <a:srgbClr val="0070C0"/>
                </a:solidFill>
              </a:rPr>
              <a:t>-  Структурный подход к программированию (60-70-е годы </a:t>
            </a:r>
            <a:r>
              <a:rPr lang="en-US" altLang="ru-RU" sz="2400" dirty="0">
                <a:solidFill>
                  <a:srgbClr val="0070C0"/>
                </a:solidFill>
              </a:rPr>
              <a:t>XX</a:t>
            </a:r>
            <a:r>
              <a:rPr lang="ru-RU" altLang="ru-RU" sz="2400" dirty="0">
                <a:solidFill>
                  <a:srgbClr val="0070C0"/>
                </a:solidFill>
              </a:rPr>
              <a:t> в.)</a:t>
            </a:r>
          </a:p>
          <a:p>
            <a:pPr>
              <a:lnSpc>
                <a:spcPct val="150000"/>
              </a:lnSpc>
              <a:spcAft>
                <a:spcPts val="3600"/>
              </a:spcAft>
              <a:buFontTx/>
              <a:buNone/>
            </a:pPr>
            <a:r>
              <a:rPr lang="ru-RU" altLang="ru-RU" sz="2400" b="1" dirty="0">
                <a:solidFill>
                  <a:srgbClr val="FF0000"/>
                </a:solidFill>
              </a:rPr>
              <a:t>3 ЭТАП</a:t>
            </a:r>
            <a:r>
              <a:rPr lang="ru-RU" altLang="ru-RU" sz="2400" dirty="0">
                <a:solidFill>
                  <a:srgbClr val="FF0000"/>
                </a:solidFill>
              </a:rPr>
              <a:t> </a:t>
            </a:r>
            <a:r>
              <a:rPr lang="ru-RU" altLang="ru-RU" sz="2400" dirty="0">
                <a:solidFill>
                  <a:srgbClr val="0070C0"/>
                </a:solidFill>
              </a:rPr>
              <a:t>- Объектный подход к программированию (с середины 80-х до конца 90-х годов)</a:t>
            </a:r>
          </a:p>
          <a:p>
            <a:pPr>
              <a:lnSpc>
                <a:spcPct val="150000"/>
              </a:lnSpc>
              <a:spcAft>
                <a:spcPts val="3600"/>
              </a:spcAft>
              <a:buFontTx/>
              <a:buNone/>
            </a:pPr>
            <a:r>
              <a:rPr lang="ru-RU" altLang="ru-RU" sz="2400" b="1" dirty="0">
                <a:solidFill>
                  <a:srgbClr val="FF0000"/>
                </a:solidFill>
              </a:rPr>
              <a:t>4 ЭТАП</a:t>
            </a:r>
            <a:r>
              <a:rPr lang="ru-RU" altLang="ru-RU" sz="2400" dirty="0">
                <a:solidFill>
                  <a:srgbClr val="FF0000"/>
                </a:solidFill>
              </a:rPr>
              <a:t> </a:t>
            </a:r>
            <a:r>
              <a:rPr lang="ru-RU" altLang="ru-RU" sz="2400" dirty="0">
                <a:solidFill>
                  <a:srgbClr val="0070C0"/>
                </a:solidFill>
              </a:rPr>
              <a:t>- Компонентный подход и </a:t>
            </a:r>
            <a:r>
              <a:rPr lang="en-US" altLang="ru-RU" sz="2400" dirty="0">
                <a:solidFill>
                  <a:srgbClr val="0070C0"/>
                </a:solidFill>
              </a:rPr>
              <a:t>CASE</a:t>
            </a:r>
            <a:r>
              <a:rPr lang="ru-RU" altLang="ru-RU" sz="2400" dirty="0">
                <a:solidFill>
                  <a:srgbClr val="0070C0"/>
                </a:solidFill>
              </a:rPr>
              <a:t>-технологии (с середины 90-х годов </a:t>
            </a:r>
            <a:r>
              <a:rPr lang="en-US" altLang="ru-RU" sz="2400" dirty="0">
                <a:solidFill>
                  <a:srgbClr val="0070C0"/>
                </a:solidFill>
              </a:rPr>
              <a:t>XX</a:t>
            </a:r>
            <a:r>
              <a:rPr lang="ru-RU" altLang="ru-RU" sz="2400" dirty="0">
                <a:solidFill>
                  <a:srgbClr val="0070C0"/>
                </a:solidFill>
              </a:rPr>
              <a:t> в. до наст. времени)  </a:t>
            </a:r>
          </a:p>
        </p:txBody>
      </p:sp>
    </p:spTree>
    <p:extLst>
      <p:ext uri="{BB962C8B-B14F-4D97-AF65-F5344CB8AC3E}">
        <p14:creationId xmlns:p14="http://schemas.microsoft.com/office/powerpoint/2010/main" val="148076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Этапы развития программирования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09320" y="1695253"/>
            <a:ext cx="11523643" cy="4865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295400" indent="-5334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94310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514600" indent="-3810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3086100" indent="-3810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543300" indent="-381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4000500" indent="-381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457700" indent="-381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914900" indent="-381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0" lang="ru-RU" altLang="ru-RU" sz="1800" b="1" dirty="0">
                <a:solidFill>
                  <a:srgbClr val="FF0000"/>
                </a:solidFill>
                <a:latin typeface="+mn-lt"/>
              </a:rPr>
              <a:t>1 </a:t>
            </a:r>
            <a:r>
              <a:rPr kumimoji="0" lang="en-US" altLang="ru-RU" sz="1800" b="1" dirty="0">
                <a:solidFill>
                  <a:srgbClr val="FF0000"/>
                </a:solidFill>
                <a:latin typeface="+mn-lt"/>
              </a:rPr>
              <a:t>GL</a:t>
            </a:r>
            <a:r>
              <a:rPr kumimoji="0" lang="en-US" altLang="ru-RU" sz="1800" dirty="0">
                <a:solidFill>
                  <a:srgbClr val="FF0000"/>
                </a:solidFill>
                <a:latin typeface="+mn-lt"/>
              </a:rPr>
              <a:t>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(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время появления – 40-50 гг.).  Языки машинных команд. Первый ассемблер, который позволял задавать названия команд в символическом виде и указывать числа не только в двоичном, но и в десятичном или шестнадцатеричном формате.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endParaRPr kumimoji="0" lang="ru-RU" altLang="ru-RU" sz="1800" dirty="0">
              <a:latin typeface="+mn-lt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0" lang="ru-RU" altLang="ru-RU" sz="1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2GL</a:t>
            </a:r>
            <a:r>
              <a:rPr kumimoji="0" lang="ru-RU" altLang="ru-RU" sz="1800" dirty="0">
                <a:latin typeface="+mn-lt"/>
              </a:rPr>
              <a:t>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(конец 50-х –  начало 60-х гг.). Символический ассемблер, включающий понятие переменной. 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endParaRPr kumimoji="0" lang="ru-RU" altLang="ru-RU" sz="1800" b="1" dirty="0">
              <a:latin typeface="+mn-lt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0" lang="ru-RU" altLang="ru-RU" sz="1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3GL</a:t>
            </a:r>
            <a:r>
              <a:rPr kumimoji="0" lang="ru-RU" altLang="ru-RU" sz="1800" dirty="0">
                <a:latin typeface="+mn-lt"/>
              </a:rPr>
              <a:t>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(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60-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е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годы)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.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Универсальные языки высокого уровня (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FORTRAN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,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COBOL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,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ALGOL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,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Pascal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, C и др.) Современные среды программирования (например,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 Delphi, Visual BASIC, Java Development Kit)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включают поддержку объектно-ориентированной технологии, набор визуальных инструментов для скоростной разработки приложений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(</a:t>
            </a:r>
            <a:r>
              <a:rPr kumimoji="0" lang="ru-RU" altLang="ru-RU" sz="1800" dirty="0" err="1">
                <a:solidFill>
                  <a:srgbClr val="0070C0"/>
                </a:solidFill>
                <a:latin typeface="+mn-lt"/>
              </a:rPr>
              <a:t>RAD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),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 библиотеку визуальных компонент (</a:t>
            </a:r>
            <a:r>
              <a:rPr kumimoji="0" lang="en-US" altLang="ru-RU" sz="1800" dirty="0" err="1">
                <a:solidFill>
                  <a:srgbClr val="0070C0"/>
                </a:solidFill>
                <a:latin typeface="+mn-lt"/>
              </a:rPr>
              <a:t>VCL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)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и другие инструменты.</a:t>
            </a:r>
            <a:endParaRPr kumimoji="0" lang="en-US" altLang="ru-RU" sz="1800" dirty="0">
              <a:solidFill>
                <a:srgbClr val="0070C0"/>
              </a:solidFill>
              <a:latin typeface="+mn-lt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endParaRPr kumimoji="0" lang="ru-RU" altLang="ru-RU" sz="1800" b="1" dirty="0">
              <a:latin typeface="+mn-lt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0" lang="en-US" altLang="ru-RU" sz="1800" b="1" dirty="0">
                <a:solidFill>
                  <a:srgbClr val="FF0000"/>
                </a:solidFill>
                <a:latin typeface="+mn-lt"/>
              </a:rPr>
              <a:t>4 GL</a:t>
            </a:r>
            <a:r>
              <a:rPr kumimoji="0" lang="en-US" altLang="ru-RU" sz="1800" dirty="0">
                <a:solidFill>
                  <a:srgbClr val="FF0000"/>
                </a:solidFill>
                <a:latin typeface="+mn-lt"/>
              </a:rPr>
              <a:t>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(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начало 70-х г.).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Непроцедурные языки, ориентированные на конкретную область применения (в отличие от универсальных языков 3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GL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), в частности, на работу с базами данных. Команды языков 4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GL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 ближе к обычному языку, нежели у 3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GL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:Типичный пример языка 4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GL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 –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SQL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 (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Structured Query Language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).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0" lang="ru-RU" altLang="ru-RU" sz="1800" dirty="0">
                <a:latin typeface="+mn-lt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0" lang="ru-RU" altLang="ru-RU" sz="1800" b="1" dirty="0">
                <a:solidFill>
                  <a:srgbClr val="FF0000"/>
                </a:solidFill>
                <a:latin typeface="+mn-lt"/>
              </a:rPr>
              <a:t>5 </a:t>
            </a:r>
            <a:r>
              <a:rPr kumimoji="0" lang="en-US" altLang="ru-RU" sz="1800" b="1" dirty="0">
                <a:solidFill>
                  <a:srgbClr val="FF0000"/>
                </a:solidFill>
                <a:latin typeface="+mn-lt"/>
              </a:rPr>
              <a:t>GL</a:t>
            </a:r>
            <a:r>
              <a:rPr kumimoji="0" lang="en-US" altLang="ru-RU" sz="1800" dirty="0">
                <a:solidFill>
                  <a:srgbClr val="FF0000"/>
                </a:solidFill>
                <a:latin typeface="+mn-lt"/>
              </a:rPr>
              <a:t> </a:t>
            </a:r>
            <a:r>
              <a:rPr kumimoji="0" lang="en-US" altLang="ru-RU" sz="1800" dirty="0">
                <a:solidFill>
                  <a:srgbClr val="0070C0"/>
                </a:solidFill>
                <a:latin typeface="+mn-lt"/>
              </a:rPr>
              <a:t>(</a:t>
            </a:r>
            <a:r>
              <a:rPr kumimoji="0" lang="ru-RU" altLang="ru-RU" sz="1800" dirty="0">
                <a:solidFill>
                  <a:srgbClr val="0070C0"/>
                </a:solidFill>
                <a:latin typeface="+mn-lt"/>
              </a:rPr>
              <a:t>наст. время). В том числе, системы создания программ, ориентированные на непрограммиста. </a:t>
            </a:r>
            <a:endParaRPr kumimoji="0" lang="en-US" altLang="ru-RU" sz="1800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380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Программа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формализованное описание алгоритма для его выполнения на компьютере. Из-за наличия других смыслов и значений понятия «программа» в настоящее время используют понятие </a:t>
            </a:r>
            <a:r>
              <a:rPr lang="ru-RU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компьютерная программа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Программный модуль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явным образом оформленная (разграниченная) часть программы, выполняющая ряд функций и применяемая только в составе какой-либо программы.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Программный компонент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программа, рассматриваемая как единое целое, выполняющая заданную функцию (или связный набор функций) и применяемая самостоятельно или в совокупности с другими программами. </a:t>
            </a: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Фактически компонент – это модуль, который может использоваться самостоятельно или в совокупности с аналогичными компонентами.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Предметная область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совокупность объектов, представляющих часть реального, гипотетического или абстрактного мира, и относящихся к ним понятий, а также связей между ними.</a:t>
            </a:r>
          </a:p>
        </p:txBody>
      </p:sp>
    </p:spTree>
    <p:extLst>
      <p:ext uri="{BB962C8B-B14F-4D97-AF65-F5344CB8AC3E}">
        <p14:creationId xmlns:p14="http://schemas.microsoft.com/office/powerpoint/2010/main" val="277853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Программы осуществляют взаимодействие через общие данные</a:t>
            </a:r>
            <a:endParaRPr lang="ru-RU" sz="2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Программная система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организованная совокупность программ (подсистем), позволяющая решать широкий класс задач некоторой </a:t>
            </a:r>
            <a:r>
              <a:rPr lang="ru-RU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узком смысле </a:t>
            </a:r>
            <a:r>
              <a:rPr lang="ru-RU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программное обеспечение</a:t>
            </a: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(ПО) – совокупность программ (программный комплекс / </a:t>
            </a:r>
            <a:r>
              <a:rPr lang="ru-RU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</a:t>
            </a: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на носителях данных.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широком смысле ПО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совокупность всех программ и данных (процедур, правил и документации на ПО), входящие в состав компьютера.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Здесь </a:t>
            </a:r>
            <a:r>
              <a:rPr lang="ru-RU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компьютер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вычислительная машина</a:t>
            </a: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это совокупность взаимосвязанного и взаимодействующего аппаратного, микропрограммного и программного обеспечения, используемая для решения поставленных задач. В этом смысле к компьютерам относят и </a:t>
            </a:r>
            <a:r>
              <a:rPr lang="ru-RU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вычислительные системы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909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является более ёмким понятием, чем ПО: оно включает в себя ещё и окружение, в котором функционирует ПО.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Программное средство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это ПО, снабжённое программной документацией. 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Документация на ПО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Программная документация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совокупность документов, содержащих сведения, необходимые для разработки и использования ПО</a:t>
            </a:r>
          </a:p>
        </p:txBody>
      </p:sp>
    </p:spTree>
    <p:extLst>
      <p:ext uri="{BB962C8B-B14F-4D97-AF65-F5344CB8AC3E}">
        <p14:creationId xmlns:p14="http://schemas.microsoft.com/office/powerpoint/2010/main" val="119310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Наиболее общим рассматриваемым понятием является система. С точки зрения разработки система включает в себя вычислительные системы, персонал и т.д.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инженерно-технической точки зрения наиболее часто используют понятие «система», реже «ПО», «ПС» и «программное средство».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Поэтому в большинстве излагаемого материала </a:t>
            </a: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указание на ПО обычно можно заменить на ПС, программное средство и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(с некоторыми условиями) </a:t>
            </a:r>
            <a:r>
              <a:rPr lang="ru-RU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систему в целом.</a:t>
            </a:r>
          </a:p>
        </p:txBody>
      </p:sp>
    </p:spTree>
    <p:extLst>
      <p:ext uri="{BB962C8B-B14F-4D97-AF65-F5344CB8AC3E}">
        <p14:creationId xmlns:p14="http://schemas.microsoft.com/office/powerpoint/2010/main" val="243601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организационной и экономической точек зрения наиболее часто используют понятия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«прототип»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«программный продукт»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частичная, предварительная или возможная реализация решения.</a:t>
            </a:r>
            <a:b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Программный продукт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(ПП)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программное средство, являющееся продуктом промышленного производства, предназначенным для поставки, передачи, продажи пользователю.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рассмотрении его только как результата промышленного производства используют обычно понятие </a:t>
            </a: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программное изделие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(ПИ).</a:t>
            </a:r>
          </a:p>
        </p:txBody>
      </p:sp>
    </p:spTree>
    <p:extLst>
      <p:ext uri="{BB962C8B-B14F-4D97-AF65-F5344CB8AC3E}">
        <p14:creationId xmlns:p14="http://schemas.microsoft.com/office/powerpoint/2010/main" val="204110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</a:t>
            </a:r>
            <a:r>
              <a:rPr lang="ru-RU" altLang="ru-RU" sz="2000" i="1" dirty="0"/>
              <a:t> </a:t>
            </a:r>
          </a:p>
          <a:p>
            <a:pPr marL="0" indent="0" algn="just">
              <a:buNone/>
            </a:pPr>
            <a:r>
              <a:rPr lang="ru-RU" altLang="ru-RU" sz="2000" b="1" i="1" dirty="0">
                <a:solidFill>
                  <a:srgbClr val="FF0000"/>
                </a:solidFill>
              </a:rPr>
              <a:t>Интерфейс программы </a:t>
            </a:r>
            <a:r>
              <a:rPr lang="ru-RU" altLang="ru-RU" sz="2000" dirty="0">
                <a:solidFill>
                  <a:srgbClr val="0070C0"/>
                </a:solidFill>
              </a:rPr>
              <a:t>- это реализация диалога между программой и человеком. Интерфейс составляют все видимые и невидимые компоненты программы, с помощью которых пользователь вводит запрашиваемые данные, управляет режимами работы программы и видит получаемые результаты. Графический интерфейс программы (</a:t>
            </a:r>
            <a:r>
              <a:rPr lang="ru-RU" altLang="ru-RU" sz="2000" dirty="0" err="1">
                <a:solidFill>
                  <a:srgbClr val="0070C0"/>
                </a:solidFill>
              </a:rPr>
              <a:t>user</a:t>
            </a:r>
            <a:r>
              <a:rPr lang="ru-RU" altLang="ru-RU" sz="2000" dirty="0">
                <a:solidFill>
                  <a:srgbClr val="0070C0"/>
                </a:solidFill>
              </a:rPr>
              <a:t> </a:t>
            </a:r>
            <a:r>
              <a:rPr lang="ru-RU" altLang="ru-RU" sz="2000" dirty="0" err="1">
                <a:solidFill>
                  <a:srgbClr val="0070C0"/>
                </a:solidFill>
              </a:rPr>
              <a:t>and</a:t>
            </a:r>
            <a:r>
              <a:rPr lang="ru-RU" altLang="ru-RU" sz="2000" dirty="0">
                <a:solidFill>
                  <a:srgbClr val="0070C0"/>
                </a:solidFill>
              </a:rPr>
              <a:t> </a:t>
            </a:r>
            <a:r>
              <a:rPr lang="ru-RU" altLang="ru-RU" sz="2000" dirty="0" err="1">
                <a:solidFill>
                  <a:srgbClr val="0070C0"/>
                </a:solidFill>
              </a:rPr>
              <a:t>graphics</a:t>
            </a:r>
            <a:r>
              <a:rPr lang="ru-RU" altLang="ru-RU" sz="2000" dirty="0">
                <a:solidFill>
                  <a:srgbClr val="0070C0"/>
                </a:solidFill>
              </a:rPr>
              <a:t> </a:t>
            </a:r>
            <a:r>
              <a:rPr lang="ru-RU" altLang="ru-RU" sz="2000" dirty="0" err="1">
                <a:solidFill>
                  <a:srgbClr val="0070C0"/>
                </a:solidFill>
              </a:rPr>
              <a:t>interfaces</a:t>
            </a:r>
            <a:r>
              <a:rPr lang="ru-RU" altLang="ru-RU" sz="2000" dirty="0">
                <a:solidFill>
                  <a:srgbClr val="0070C0"/>
                </a:solidFill>
              </a:rPr>
              <a:t>, </a:t>
            </a:r>
            <a:r>
              <a:rPr lang="ru-RU" altLang="ru-RU" sz="2000" dirty="0" err="1">
                <a:solidFill>
                  <a:srgbClr val="0070C0"/>
                </a:solidFill>
              </a:rPr>
              <a:t>GUI</a:t>
            </a:r>
            <a:r>
              <a:rPr lang="ru-RU" altLang="ru-RU" sz="2000" dirty="0">
                <a:solidFill>
                  <a:srgbClr val="0070C0"/>
                </a:solidFill>
              </a:rPr>
              <a:t>) - это внешний вид программы.</a:t>
            </a:r>
          </a:p>
          <a:p>
            <a:pPr marL="0" indent="0" algn="just">
              <a:buNone/>
            </a:pPr>
            <a:r>
              <a:rPr lang="ru-RU" altLang="ru-RU" sz="2000" dirty="0">
                <a:solidFill>
                  <a:srgbClr val="0070C0"/>
                </a:solidFill>
              </a:rPr>
              <a:t>Хорошо продуманный интерфейс облегчает работу с программой и препятствует возникновению ошибок.</a:t>
            </a:r>
          </a:p>
          <a:p>
            <a:pPr marL="0" indent="0">
              <a:buNone/>
            </a:pPr>
            <a:r>
              <a:rPr lang="ru-RU" altLang="ru-RU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ВХОДНЫЕ</a:t>
            </a:r>
            <a:r>
              <a:rPr lang="ru-RU" altLang="ru-RU" sz="2000" i="1" dirty="0"/>
              <a:t> </a:t>
            </a:r>
            <a:r>
              <a:rPr lang="ru-RU" altLang="ru-RU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</a:p>
          <a:p>
            <a:pPr marL="0" indent="0" algn="just">
              <a:buNone/>
            </a:pPr>
            <a:r>
              <a:rPr lang="ru-RU" altLang="ru-RU" sz="2000" b="1" i="1" dirty="0">
                <a:solidFill>
                  <a:srgbClr val="FF0000"/>
                </a:solidFill>
              </a:rPr>
              <a:t>Входные данные </a:t>
            </a:r>
            <a:r>
              <a:rPr lang="ru-RU" altLang="ru-RU" sz="2000" dirty="0">
                <a:solidFill>
                  <a:srgbClr val="0070C0"/>
                </a:solidFill>
              </a:rPr>
              <a:t>задаются до начала работы алгоритма в программе или определяются динамически во время его работы. Входные данные – это либо непосредственное задание значений необходимых величин и характеристик, либо выбор клавишей мыши соответствующего пункта меню, открытие диалоговых окон и т.д.</a:t>
            </a:r>
            <a:endParaRPr lang="ru-RU" altLang="ru-RU" sz="2000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altLang="ru-RU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ВЫХОДНЫЕ</a:t>
            </a:r>
            <a:r>
              <a:rPr lang="ru-RU" altLang="ru-RU" sz="2000" i="1" dirty="0"/>
              <a:t> </a:t>
            </a:r>
            <a:r>
              <a:rPr lang="ru-RU" altLang="ru-RU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</a:p>
          <a:p>
            <a:pPr marL="0" indent="0">
              <a:buNone/>
            </a:pPr>
            <a:r>
              <a:rPr lang="ru-RU" altLang="ru-RU" sz="2000" b="1" i="1" dirty="0">
                <a:solidFill>
                  <a:srgbClr val="FF0000"/>
                </a:solidFill>
              </a:rPr>
              <a:t>Выходные данные </a:t>
            </a:r>
            <a:r>
              <a:rPr lang="ru-RU" altLang="ru-RU" sz="2000" dirty="0">
                <a:solidFill>
                  <a:srgbClr val="0070C0"/>
                </a:solidFill>
              </a:rPr>
              <a:t>– это представленные в определённой форме результаты работы программы (в виде графиков, диаграмм, таблиц, списков), либо просто вывод значений рассчитанных величин в строку.</a:t>
            </a:r>
          </a:p>
        </p:txBody>
      </p:sp>
    </p:spTree>
    <p:extLst>
      <p:ext uri="{BB962C8B-B14F-4D97-AF65-F5344CB8AC3E}">
        <p14:creationId xmlns:p14="http://schemas.microsoft.com/office/powerpoint/2010/main" val="344359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ru-RU" sz="2000" dirty="0">
                <a:solidFill>
                  <a:srgbClr val="0070C0"/>
                </a:solidFill>
              </a:rPr>
              <a:t>Программные продукты бывают двух типов: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Коробочные  </a:t>
            </a:r>
            <a:r>
              <a:rPr lang="ru-RU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продукты  </a:t>
            </a:r>
            <a:r>
              <a:rPr lang="ru-RU" sz="2000" dirty="0">
                <a:solidFill>
                  <a:srgbClr val="0070C0"/>
                </a:solidFill>
              </a:rPr>
              <a:t>(</a:t>
            </a:r>
            <a:r>
              <a:rPr lang="ru-RU" sz="2000" dirty="0" err="1">
                <a:solidFill>
                  <a:srgbClr val="0070C0"/>
                </a:solidFill>
              </a:rPr>
              <a:t>generic</a:t>
            </a:r>
            <a:r>
              <a:rPr lang="ru-RU" sz="2000" dirty="0">
                <a:solidFill>
                  <a:srgbClr val="0070C0"/>
                </a:solidFill>
              </a:rPr>
              <a:t>  </a:t>
            </a:r>
            <a:r>
              <a:rPr lang="ru-RU" sz="2000" dirty="0" err="1">
                <a:solidFill>
                  <a:srgbClr val="0070C0"/>
                </a:solidFill>
              </a:rPr>
              <a:t>products</a:t>
            </a:r>
            <a:r>
              <a:rPr lang="ru-RU" sz="2000" dirty="0">
                <a:solidFill>
                  <a:srgbClr val="0070C0"/>
                </a:solidFill>
              </a:rPr>
              <a:t>  –  общие  продукты  или  </a:t>
            </a:r>
            <a:r>
              <a:rPr lang="ru-RU" sz="2000" dirty="0" err="1">
                <a:solidFill>
                  <a:srgbClr val="0070C0"/>
                </a:solidFill>
              </a:rPr>
              <a:t>shrink-wrapped</a:t>
            </a:r>
            <a:r>
              <a:rPr lang="ru-RU" sz="2000" dirty="0">
                <a:solidFill>
                  <a:srgbClr val="0070C0"/>
                </a:solidFill>
              </a:rPr>
              <a:t> </a:t>
            </a:r>
            <a:r>
              <a:rPr lang="ru-RU" sz="2000" dirty="0" err="1">
                <a:solidFill>
                  <a:srgbClr val="0070C0"/>
                </a:solidFill>
              </a:rPr>
              <a:t>software</a:t>
            </a:r>
            <a:r>
              <a:rPr lang="ru-RU" sz="2000" dirty="0">
                <a:solidFill>
                  <a:srgbClr val="0070C0"/>
                </a:solidFill>
              </a:rPr>
              <a:t> – упакованное ПО)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Заказные  </a:t>
            </a:r>
            <a:r>
              <a:rPr lang="ru-RU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продукты  </a:t>
            </a:r>
            <a:r>
              <a:rPr lang="ru-RU" sz="2000" dirty="0">
                <a:solidFill>
                  <a:srgbClr val="0070C0"/>
                </a:solidFill>
              </a:rPr>
              <a:t>(</a:t>
            </a:r>
            <a:r>
              <a:rPr lang="ru-RU" sz="2000" dirty="0" err="1">
                <a:solidFill>
                  <a:srgbClr val="0070C0"/>
                </a:solidFill>
              </a:rPr>
              <a:t>bespoke</a:t>
            </a:r>
            <a:r>
              <a:rPr lang="ru-RU" sz="2000" dirty="0">
                <a:solidFill>
                  <a:srgbClr val="0070C0"/>
                </a:solidFill>
              </a:rPr>
              <a:t>  –  сделанный  на  заказ  или  </a:t>
            </a:r>
            <a:r>
              <a:rPr lang="ru-RU" sz="2000" dirty="0" err="1">
                <a:solidFill>
                  <a:srgbClr val="0070C0"/>
                </a:solidFill>
              </a:rPr>
              <a:t>customized</a:t>
            </a:r>
            <a:r>
              <a:rPr lang="ru-RU" sz="2000" dirty="0">
                <a:solidFill>
                  <a:srgbClr val="0070C0"/>
                </a:solidFill>
              </a:rPr>
              <a:t>  </a:t>
            </a:r>
            <a:r>
              <a:rPr lang="ru-RU" sz="2000" dirty="0" err="1">
                <a:solidFill>
                  <a:srgbClr val="0070C0"/>
                </a:solidFill>
              </a:rPr>
              <a:t>products</a:t>
            </a:r>
            <a:r>
              <a:rPr lang="ru-RU" sz="2000" dirty="0">
                <a:solidFill>
                  <a:srgbClr val="0070C0"/>
                </a:solidFill>
              </a:rPr>
              <a:t>  – настроенный продукт)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05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375731" y="4022878"/>
            <a:ext cx="2000250" cy="5715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/>
              <a:t>РАЗРАБОТЧИК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447919" y="4022878"/>
            <a:ext cx="2000250" cy="5715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/>
              <a:t>ЗАКАЗЧИК</a:t>
            </a:r>
            <a:r>
              <a:rPr lang="ru-RU" dirty="0"/>
              <a:t> </a:t>
            </a:r>
          </a:p>
        </p:txBody>
      </p:sp>
      <p:sp>
        <p:nvSpPr>
          <p:cNvPr id="10" name="Блок-схема: несколько документов 9"/>
          <p:cNvSpPr/>
          <p:nvPr/>
        </p:nvSpPr>
        <p:spPr>
          <a:xfrm>
            <a:off x="4804731" y="1665441"/>
            <a:ext cx="2857500" cy="1357312"/>
          </a:xfrm>
          <a:prstGeom prst="flowChartMultidocumen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/>
              <a:t>КОРОБОЧНЫЙ ПРОДУКТ</a:t>
            </a:r>
          </a:p>
        </p:txBody>
      </p:sp>
      <p:sp>
        <p:nvSpPr>
          <p:cNvPr id="11" name="Блок-схема: магнитный диск 10"/>
          <p:cNvSpPr/>
          <p:nvPr/>
        </p:nvSpPr>
        <p:spPr>
          <a:xfrm>
            <a:off x="4590419" y="5451628"/>
            <a:ext cx="1785937" cy="1071563"/>
          </a:xfrm>
          <a:prstGeom prst="flowChartMagneticDisk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/>
              <a:t>ЗАКАЗНОЙ ПРОДУКТ</a:t>
            </a:r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3161669" y="3022753"/>
            <a:ext cx="1928812" cy="10001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6304919" y="4594378"/>
            <a:ext cx="1643062" cy="10001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TextBox 30"/>
          <p:cNvSpPr txBox="1">
            <a:spLocks noChangeArrowheads="1"/>
          </p:cNvSpPr>
          <p:nvPr/>
        </p:nvSpPr>
        <p:spPr bwMode="auto">
          <a:xfrm>
            <a:off x="1590044" y="3094191"/>
            <a:ext cx="2751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0070C0"/>
                </a:solidFill>
              </a:rPr>
              <a:t>ставит задачу и рискует</a:t>
            </a:r>
          </a:p>
        </p:txBody>
      </p:sp>
      <p:sp>
        <p:nvSpPr>
          <p:cNvPr id="16" name="TextBox 31"/>
          <p:cNvSpPr txBox="1">
            <a:spLocks noChangeArrowheads="1"/>
          </p:cNvSpPr>
          <p:nvPr/>
        </p:nvSpPr>
        <p:spPr bwMode="auto">
          <a:xfrm>
            <a:off x="6662106" y="5308753"/>
            <a:ext cx="2816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0070C0"/>
                </a:solidFill>
              </a:rPr>
              <a:t>ставит задачу и рискует </a:t>
            </a:r>
          </a:p>
        </p:txBody>
      </p:sp>
      <p:cxnSp>
        <p:nvCxnSpPr>
          <p:cNvPr id="17" name="Прямая соединительная линия 16"/>
          <p:cNvCxnSpPr>
            <a:stCxn id="8" idx="3"/>
          </p:cNvCxnSpPr>
          <p:nvPr/>
        </p:nvCxnSpPr>
        <p:spPr>
          <a:xfrm>
            <a:off x="3375981" y="4308628"/>
            <a:ext cx="2357438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5400000" flipH="1" flipV="1">
            <a:off x="5054763" y="3701409"/>
            <a:ext cx="1358900" cy="15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5400000">
            <a:off x="5162713" y="4879334"/>
            <a:ext cx="1143000" cy="15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TextBox 50"/>
          <p:cNvSpPr txBox="1">
            <a:spLocks noChangeArrowheads="1"/>
          </p:cNvSpPr>
          <p:nvPr/>
        </p:nvSpPr>
        <p:spPr bwMode="auto">
          <a:xfrm>
            <a:off x="3876044" y="3880003"/>
            <a:ext cx="17986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0070C0"/>
                </a:solidFill>
              </a:rPr>
              <a:t>разрабатывает</a:t>
            </a:r>
          </a:p>
        </p:txBody>
      </p:sp>
    </p:spTree>
    <p:extLst>
      <p:ext uri="{BB962C8B-B14F-4D97-AF65-F5344CB8AC3E}">
        <p14:creationId xmlns:p14="http://schemas.microsoft.com/office/powerpoint/2010/main" val="405154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Услуга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деятельность по оказанию помощи в эксплуатации продукта.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удобства продукт и услуга именуются кратко –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результат в виде предоставляемого набора продуктов и/или услуг, необходимый для удовлетворения определённой потребности.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Данное понятие чаще всего используется в области информационных технологий.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68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решением тесно связаны два важнейших понятия – 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«проект» и «команда»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это комплекс действий временного характера, направленных на получение конкретного решения; суть результата – его содержание. 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частичная, предварительная или возможная реализация решения. Прототип является пробным или промежуточным результатом разработки, по которому оценивается решение в целом.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группа лиц, сформированная для выполнения проекта или его части. Проект реализуется командами, а команда работает над проектами.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51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518961"/>
            <a:ext cx="11904258" cy="510306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проекте могут принимать участие разные лица. Под лицом здесь понимается физическое или юридическое лицо, т.е. один человек, группа людей или некоторая организация в целом.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Заинтересованное лицо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чьи интересы могут быть затронуты процессами и результатами проекта. Среди заинтересованных лиц выделяют участников проекта и, в частности, исполнителей.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Участник проекта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член проекта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принимающее непосредственное участие в проекте</a:t>
            </a:r>
            <a:r>
              <a:rPr lang="ru-RU" sz="20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Исполнитель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участник проекта, выполняющий поставленную перед ним работу в рамках этого проекта и несущий ответственность за её выполнение.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9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проекте каждый участник играет некоторую роль (или набор ролей). 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Роль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характер поведения и области ответственности участника.</a:t>
            </a:r>
          </a:p>
          <a:p>
            <a:pPr marL="0" indent="0">
              <a:buNone/>
            </a:pPr>
            <a:r>
              <a:rPr lang="ru-RU" sz="24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Выделяют основные роли: 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которое непосредственно участвует в эксплуатации продукта для получения результатов и/или использует эти результаты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оператор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которое занимается эксплуатацией продукта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заказчик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которое заказывает разработку продукта и приобретает его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поставщик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которое предоставляет разработанный продукт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разработчик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лицо, которое выполняет разработку продукта, т.е. все действия по разработке в рамках проекта. </a:t>
            </a:r>
          </a:p>
        </p:txBody>
      </p:sp>
    </p:spTree>
    <p:extLst>
      <p:ext uri="{BB962C8B-B14F-4D97-AF65-F5344CB8AC3E}">
        <p14:creationId xmlns:p14="http://schemas.microsoft.com/office/powerpoint/2010/main" val="144030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Часто для различных разработчиков выделяют отдельные роли: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тим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лидер (менеджер)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(системный) аналитик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проектировщик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программист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тестировщик и т.п.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Особенностями проекта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(в отличие от любой другой деятельности)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являются получение конкретного результата и ограниченность проекта временными рамками, определяемые жизненным циклом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1421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программирования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04258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конкретный результат не указан, обычно говорят о процессе разработки.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разработки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совокупность взаимосвязанных действий по получению некоторого результата. Процесс разработки в этом смысле представляет абстракцию проекта и фактически оказывается синонимом подхода к разработке ПО или системы. Это проявляется и в названии некоторых технологических подходов.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 можно рассматривать аналогично живому организму: он имеет </a:t>
            </a:r>
            <a:r>
              <a:rPr lang="ru-RU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жизненный цикл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(ЖЦ), который начинается с «зарождения» (возможно, с зарождения замысла / идеи) и заканчивается его «смертью» (изъятием из употребления).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Концепция ЖЦ оказывается чрезвычайно полезной при управлении проектом.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87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Этапы разработки программного обеспеченья</a:t>
            </a: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2598946523"/>
              </p:ext>
            </p:extLst>
          </p:nvPr>
        </p:nvGraphicFramePr>
        <p:xfrm>
          <a:off x="287151" y="1619480"/>
          <a:ext cx="11559708" cy="5076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3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Этапы разработки программного обеспеченья</a:t>
            </a: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32202" y="1597445"/>
            <a:ext cx="11942285" cy="5354197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b="1" u="sng" dirty="0">
                <a:solidFill>
                  <a:srgbClr val="FF0000"/>
                </a:solidFill>
              </a:rPr>
              <a:t>Анализ требований к проекту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dirty="0">
                <a:solidFill>
                  <a:srgbClr val="0070C0"/>
                </a:solidFill>
              </a:rPr>
              <a:t>фиксируются требования заказчика, определяются сроки и стоимость разработки ПО, формируется и подписывается </a:t>
            </a:r>
            <a:r>
              <a:rPr lang="ru-RU" sz="2000" dirty="0" err="1">
                <a:solidFill>
                  <a:srgbClr val="0070C0"/>
                </a:solidFill>
              </a:rPr>
              <a:t>ТЗ</a:t>
            </a:r>
            <a:r>
              <a:rPr lang="ru-RU" sz="2000" dirty="0">
                <a:solidFill>
                  <a:srgbClr val="0070C0"/>
                </a:solidFill>
              </a:rPr>
              <a:t> на разработку ПО.</a:t>
            </a:r>
          </a:p>
          <a:p>
            <a:pPr marL="539750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b="1" u="sng" dirty="0">
                <a:solidFill>
                  <a:srgbClr val="FF0000"/>
                </a:solidFill>
              </a:rPr>
              <a:t>Проектирование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</a:p>
          <a:p>
            <a:pPr marL="539750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dirty="0">
                <a:solidFill>
                  <a:srgbClr val="0070C0"/>
                </a:solidFill>
              </a:rPr>
              <a:t>выбирается архитектура ПО, оговариваются требования к аппаратному обеспечению, определяется набор орг. мероприятий, которые необходимы для внедрения ПО, а также перечень 	документов, регламентирующих его использование, назначаются требования к пользовательскому интерфейсу.</a:t>
            </a:r>
          </a:p>
          <a:p>
            <a:pPr marL="1079500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b="1" u="sng" dirty="0">
                <a:solidFill>
                  <a:srgbClr val="FF0000"/>
                </a:solidFill>
              </a:rPr>
              <a:t>Реализация</a:t>
            </a:r>
          </a:p>
          <a:p>
            <a:pPr marL="1079500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dirty="0">
                <a:solidFill>
                  <a:srgbClr val="0070C0"/>
                </a:solidFill>
              </a:rPr>
              <a:t>готовый программный продукт, удовлетворяющий всем согласованным требованиям.</a:t>
            </a:r>
          </a:p>
          <a:p>
            <a:pPr marL="1431925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b="1" u="sng" dirty="0">
                <a:solidFill>
                  <a:srgbClr val="FF0000"/>
                </a:solidFill>
              </a:rPr>
              <a:t>Тестирование продукта </a:t>
            </a:r>
          </a:p>
          <a:p>
            <a:pPr marL="1431925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dirty="0">
                <a:solidFill>
                  <a:srgbClr val="0070C0"/>
                </a:solidFill>
              </a:rPr>
              <a:t>результатом тестирования является устранение всех недостатков системы и заключение о </a:t>
            </a:r>
            <a:r>
              <a:rPr lang="ru-RU" sz="2000" dirty="0" err="1">
                <a:solidFill>
                  <a:srgbClr val="0070C0"/>
                </a:solidFill>
              </a:rPr>
              <a:t>ее</a:t>
            </a:r>
            <a:r>
              <a:rPr lang="ru-RU" sz="2000" dirty="0">
                <a:solidFill>
                  <a:srgbClr val="0070C0"/>
                </a:solidFill>
              </a:rPr>
              <a:t> качестве.</a:t>
            </a:r>
          </a:p>
          <a:p>
            <a:pPr marL="2147888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b="1" u="sng" dirty="0">
                <a:solidFill>
                  <a:srgbClr val="FF0000"/>
                </a:solidFill>
              </a:rPr>
              <a:t>Внедрение и сопровождение </a:t>
            </a:r>
          </a:p>
          <a:p>
            <a:pPr marL="2147888" indent="0" algn="just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ru-RU" sz="2000" dirty="0">
                <a:solidFill>
                  <a:srgbClr val="0070C0"/>
                </a:solidFill>
              </a:rPr>
              <a:t>обычно предусматривает следующие шаги: установка системы, обучение пользователей, эксплуатация.</a:t>
            </a:r>
          </a:p>
        </p:txBody>
      </p:sp>
    </p:spTree>
    <p:extLst>
      <p:ext uri="{BB962C8B-B14F-4D97-AF65-F5344CB8AC3E}">
        <p14:creationId xmlns:p14="http://schemas.microsoft.com/office/powerpoint/2010/main" val="241338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жизненного цикла проекта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716439" cy="48565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002060"/>
                </a:solidFill>
              </a:rPr>
              <a:t>Целью программного проекта является решение. </a:t>
            </a:r>
            <a:r>
              <a:rPr lang="ru-RU" sz="2000" dirty="0">
                <a:solidFill>
                  <a:srgbClr val="0070C0"/>
                </a:solidFill>
              </a:rPr>
              <a:t>Для проекта и соответствующего ему решения также принято выделять </a:t>
            </a:r>
            <a:r>
              <a:rPr lang="ru-RU" sz="2000" i="1" dirty="0" err="1">
                <a:solidFill>
                  <a:srgbClr val="0070C0"/>
                </a:solidFill>
              </a:rPr>
              <a:t>ЖЦ</a:t>
            </a:r>
            <a:r>
              <a:rPr lang="ru-RU" sz="2000" i="1" dirty="0">
                <a:solidFill>
                  <a:srgbClr val="0070C0"/>
                </a:solidFill>
              </a:rPr>
              <a:t> проекта</a:t>
            </a:r>
            <a:r>
              <a:rPr lang="ru-RU" sz="2000" dirty="0">
                <a:solidFill>
                  <a:srgbClr val="0070C0"/>
                </a:solidFill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solidFill>
                  <a:srgbClr val="0070C0"/>
                </a:solidFill>
              </a:rPr>
              <a:t>В зависимости от того, что включается в решение (ПО, система и т.п.) и что входит в проект (только разработка или ещё и эксплуатация), выделяют соответствующие </a:t>
            </a:r>
            <a:r>
              <a:rPr lang="ru-RU" sz="2000" dirty="0" err="1">
                <a:solidFill>
                  <a:srgbClr val="0070C0"/>
                </a:solidFill>
              </a:rPr>
              <a:t>ЖЦ</a:t>
            </a:r>
            <a:r>
              <a:rPr lang="ru-RU" sz="2000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015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Понятие жизненного цикла проекта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7687144" cy="485657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i="1" dirty="0">
                <a:solidFill>
                  <a:srgbClr val="FF0000"/>
                </a:solidFill>
              </a:rPr>
              <a:t>Жизненный цикл ПО</a:t>
            </a:r>
            <a:r>
              <a:rPr lang="ru-RU" sz="2000" b="1" dirty="0">
                <a:solidFill>
                  <a:srgbClr val="FF0000"/>
                </a:solidFill>
              </a:rPr>
              <a:t> (</a:t>
            </a:r>
            <a:r>
              <a:rPr lang="ru-RU" sz="2000" b="1" dirty="0" err="1">
                <a:solidFill>
                  <a:srgbClr val="FF0000"/>
                </a:solidFill>
              </a:rPr>
              <a:t>ЖЦ</a:t>
            </a:r>
            <a:r>
              <a:rPr lang="ru-RU" sz="2000" b="1" dirty="0">
                <a:solidFill>
                  <a:srgbClr val="FF0000"/>
                </a:solidFill>
              </a:rPr>
              <a:t> ПО) </a:t>
            </a:r>
            <a:r>
              <a:rPr lang="ru-RU" sz="2000" dirty="0"/>
              <a:t>– </a:t>
            </a:r>
            <a:r>
              <a:rPr lang="ru-RU" sz="2000" dirty="0">
                <a:solidFill>
                  <a:srgbClr val="0070C0"/>
                </a:solidFill>
              </a:rPr>
              <a:t>весь период разработки ПО и его эксплуатации, начиная с </a:t>
            </a:r>
            <a:r>
              <a:rPr lang="ru-RU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момента</a:t>
            </a:r>
            <a:r>
              <a:rPr lang="ru-RU" sz="2000" dirty="0">
                <a:solidFill>
                  <a:srgbClr val="0070C0"/>
                </a:solidFill>
              </a:rPr>
              <a:t> возникновения замысла (идеи) и заканчивая прекращением всех видов его использования.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002060"/>
                </a:solidFill>
              </a:rPr>
              <a:t>Кроме ЖЦ ПО следует отметить следующие ЖЦ: 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FF0000"/>
                </a:solidFill>
              </a:rPr>
              <a:t>ЖЦ разработки </a:t>
            </a:r>
            <a:r>
              <a:rPr lang="ru-RU" sz="2000" b="1" dirty="0">
                <a:solidFill>
                  <a:srgbClr val="0070C0"/>
                </a:solidFill>
              </a:rPr>
              <a:t>ПО </a:t>
            </a:r>
            <a:r>
              <a:rPr lang="ru-RU" sz="2000" dirty="0">
                <a:solidFill>
                  <a:srgbClr val="0070C0"/>
                </a:solidFill>
              </a:rPr>
              <a:t>(не включает эксплуатацию и сопровождение ПО)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FF0000"/>
                </a:solidFill>
              </a:rPr>
              <a:t>ЖЦ системы </a:t>
            </a:r>
            <a:r>
              <a:rPr lang="ru-RU" sz="2000" dirty="0">
                <a:solidFill>
                  <a:srgbClr val="0070C0"/>
                </a:solidFill>
              </a:rPr>
              <a:t>(относится ко всей системе в целом)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FF0000"/>
                </a:solidFill>
              </a:rPr>
              <a:t>ЖЦ разработки системы </a:t>
            </a:r>
            <a:r>
              <a:rPr lang="ru-RU" sz="2000" dirty="0"/>
              <a:t>(</a:t>
            </a:r>
            <a:r>
              <a:rPr lang="ru-RU" sz="2000" dirty="0">
                <a:solidFill>
                  <a:srgbClr val="0070C0"/>
                </a:solidFill>
              </a:rPr>
              <a:t>не включает эксплуатацию и сопровождение системы)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Содержимое 6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02821" y="1856336"/>
            <a:ext cx="378621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9340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9" name="Овал 8"/>
          <p:cNvSpPr/>
          <p:nvPr/>
        </p:nvSpPr>
        <p:spPr>
          <a:xfrm>
            <a:off x="4588415" y="2614851"/>
            <a:ext cx="3025378" cy="1988105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b="1" dirty="0"/>
              <a:t>Аспекты производства ПО</a:t>
            </a:r>
          </a:p>
        </p:txBody>
      </p:sp>
      <p:sp>
        <p:nvSpPr>
          <p:cNvPr id="10" name="Овал 9"/>
          <p:cNvSpPr/>
          <p:nvPr/>
        </p:nvSpPr>
        <p:spPr>
          <a:xfrm>
            <a:off x="942572" y="956345"/>
            <a:ext cx="3025378" cy="150018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b="1" dirty="0"/>
              <a:t>Этапы разработки ПО</a:t>
            </a:r>
          </a:p>
        </p:txBody>
      </p:sp>
      <p:sp>
        <p:nvSpPr>
          <p:cNvPr id="11" name="Овал 10"/>
          <p:cNvSpPr/>
          <p:nvPr/>
        </p:nvSpPr>
        <p:spPr>
          <a:xfrm>
            <a:off x="4910523" y="5007855"/>
            <a:ext cx="2426711" cy="150018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b="1" dirty="0"/>
              <a:t>Риски ПО</a:t>
            </a:r>
          </a:p>
        </p:txBody>
      </p:sp>
      <p:sp>
        <p:nvSpPr>
          <p:cNvPr id="12" name="Овал 11"/>
          <p:cNvSpPr/>
          <p:nvPr/>
        </p:nvSpPr>
        <p:spPr>
          <a:xfrm>
            <a:off x="8463169" y="2858811"/>
            <a:ext cx="3183703" cy="1500187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/>
              <a:t>Управление процессом разработки ПО</a:t>
            </a:r>
          </a:p>
        </p:txBody>
      </p:sp>
      <p:sp>
        <p:nvSpPr>
          <p:cNvPr id="14" name="Овал 13"/>
          <p:cNvSpPr/>
          <p:nvPr/>
        </p:nvSpPr>
        <p:spPr>
          <a:xfrm>
            <a:off x="8463169" y="995014"/>
            <a:ext cx="3025378" cy="1500187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b="1" dirty="0"/>
              <a:t>Качество ПО</a:t>
            </a:r>
          </a:p>
        </p:txBody>
      </p:sp>
      <p:sp>
        <p:nvSpPr>
          <p:cNvPr id="15" name="Овал 14"/>
          <p:cNvSpPr/>
          <p:nvPr/>
        </p:nvSpPr>
        <p:spPr>
          <a:xfrm>
            <a:off x="749146" y="4925086"/>
            <a:ext cx="3412231" cy="150018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/>
              <a:t>Профессионализм и этика</a:t>
            </a:r>
          </a:p>
        </p:txBody>
      </p:sp>
      <p:sp>
        <p:nvSpPr>
          <p:cNvPr id="16" name="Овал 15"/>
          <p:cNvSpPr/>
          <p:nvPr/>
        </p:nvSpPr>
        <p:spPr>
          <a:xfrm>
            <a:off x="1129978" y="2894247"/>
            <a:ext cx="2571741" cy="150018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b="1" dirty="0"/>
              <a:t>Архитектура ПО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69427" y="4925087"/>
            <a:ext cx="3029634" cy="1500187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b="1" dirty="0"/>
              <a:t>Стандарты ПО</a:t>
            </a:r>
          </a:p>
        </p:txBody>
      </p:sp>
      <p:cxnSp>
        <p:nvCxnSpPr>
          <p:cNvPr id="18" name="Прямая со стрелкой 17"/>
          <p:cNvCxnSpPr>
            <a:cxnSpLocks/>
            <a:stCxn id="9" idx="1"/>
            <a:endCxn id="10" idx="5"/>
          </p:cNvCxnSpPr>
          <p:nvPr/>
        </p:nvCxnSpPr>
        <p:spPr>
          <a:xfrm flipH="1" flipV="1">
            <a:off x="3524894" y="2236836"/>
            <a:ext cx="1506577" cy="6691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stCxn id="9" idx="7"/>
            <a:endCxn id="14" idx="3"/>
          </p:cNvCxnSpPr>
          <p:nvPr/>
        </p:nvCxnSpPr>
        <p:spPr>
          <a:xfrm flipV="1">
            <a:off x="7170737" y="2275504"/>
            <a:ext cx="1735488" cy="63049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cxnSpLocks/>
            <a:stCxn id="9" idx="2"/>
            <a:endCxn id="16" idx="6"/>
          </p:cNvCxnSpPr>
          <p:nvPr/>
        </p:nvCxnSpPr>
        <p:spPr>
          <a:xfrm flipH="1">
            <a:off x="3701719" y="3608904"/>
            <a:ext cx="886696" cy="354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cxnSpLocks/>
            <a:stCxn id="9" idx="3"/>
            <a:endCxn id="15" idx="7"/>
          </p:cNvCxnSpPr>
          <p:nvPr/>
        </p:nvCxnSpPr>
        <p:spPr>
          <a:xfrm flipH="1">
            <a:off x="3661667" y="4311805"/>
            <a:ext cx="1369804" cy="83297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9" idx="5"/>
            <a:endCxn id="17" idx="1"/>
          </p:cNvCxnSpPr>
          <p:nvPr/>
        </p:nvCxnSpPr>
        <p:spPr>
          <a:xfrm>
            <a:off x="7170737" y="4311805"/>
            <a:ext cx="2042370" cy="83297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cxnSpLocks/>
            <a:stCxn id="9" idx="4"/>
            <a:endCxn id="11" idx="0"/>
          </p:cNvCxnSpPr>
          <p:nvPr/>
        </p:nvCxnSpPr>
        <p:spPr>
          <a:xfrm>
            <a:off x="6101104" y="4602956"/>
            <a:ext cx="22775" cy="40489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cxnSpLocks/>
            <a:stCxn id="9" idx="6"/>
            <a:endCxn id="12" idx="2"/>
          </p:cNvCxnSpPr>
          <p:nvPr/>
        </p:nvCxnSpPr>
        <p:spPr>
          <a:xfrm>
            <a:off x="7613793" y="3608904"/>
            <a:ext cx="849376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21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Контрольные вопросы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4236" y="1502229"/>
            <a:ext cx="11732964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1.	 Дайте определение понятиям «система» и «процесс».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2.	 Как связаны между собой понятия «система» и «процесс»?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3.	 Дайте определение понятиям «алгоритм» и «программа».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4.	 Дайте определение понятиям «программный модуль» и «программный компонент» как частям программы.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5.	 Дайте определение понятиям «программная система», «программное обеспечение» (ПО) и «программное средство».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6.  Дайте определение понятиям «документация на ПО» и «программная документация».</a:t>
            </a:r>
          </a:p>
        </p:txBody>
      </p:sp>
    </p:spTree>
    <p:extLst>
      <p:ext uri="{BB962C8B-B14F-4D97-AF65-F5344CB8AC3E}">
        <p14:creationId xmlns:p14="http://schemas.microsoft.com/office/powerpoint/2010/main" val="411209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Основные понятия программной инженерии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Контрольные вопросы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4236" y="1502229"/>
            <a:ext cx="11732964" cy="353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7.	 Дайте определение понятиям «программный продукт», «услуга», «решение» и «прототип».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8.	 Дайте определение понятиям «проект» и «команда».</a:t>
            </a:r>
          </a:p>
          <a:p>
            <a:pPr marL="288290" indent="-198120" algn="just">
              <a:lnSpc>
                <a:spcPct val="200000"/>
              </a:lnSpc>
              <a:spcAft>
                <a:spcPts val="300"/>
              </a:spcAft>
              <a:tabLst>
                <a:tab pos="288290" algn="l"/>
              </a:tabLs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9.	 Дайте определение понятиям «заинтересованное лицо», «участник проекта» и «исполнитель».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10. Дайте определение понятию «роль». Перечислите основные роли участников.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11. В чём заключается концепция жизненного цикла (</a:t>
            </a:r>
            <a:r>
              <a:rPr lang="ru-RU" kern="1400" dirty="0" err="1">
                <a:solidFill>
                  <a:srgbClr val="00B0F0"/>
                </a:solidFill>
                <a:ea typeface="Times New Roman" panose="02020603050405020304" pitchFamily="18" charset="0"/>
              </a:rPr>
              <a:t>ЖЦ</a:t>
            </a:r>
            <a:r>
              <a:rPr lang="ru-RU" kern="1400" dirty="0">
                <a:solidFill>
                  <a:srgbClr val="00B0F0"/>
                </a:solidFill>
                <a:ea typeface="Times New Roman" panose="02020603050405020304" pitchFamily="18" charset="0"/>
              </a:rPr>
              <a:t>)? Дайте определение понятиям, связанным с жизненным циклом проекта.</a:t>
            </a:r>
            <a:endParaRPr lang="ru-RU" kern="1400" dirty="0">
              <a:solidFill>
                <a:srgbClr val="00B0F0"/>
              </a:solidFill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67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pic>
        <p:nvPicPr>
          <p:cNvPr id="3074" name="Picture 2" descr="http://www.nicospa.eu/var/ezwebin_site/storage/images/health-and-safety/hs-policy/1582-3-eng-GB/HS-Policy_slide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8803"/>
            <a:ext cx="12349458" cy="4546257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1449738" y="2507787"/>
            <a:ext cx="9255672" cy="1143000"/>
          </a:xfrm>
        </p:spPr>
        <p:txBody>
          <a:bodyPr>
            <a:noAutofit/>
          </a:bodyPr>
          <a:lstStyle/>
          <a:p>
            <a:r>
              <a:rPr lang="ru-RU" sz="5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Спасибо за внимание !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1"/>
            <a:ext cx="12155148" cy="1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2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6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6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0"/>
                            </p:stCondLst>
                            <p:childTnLst>
                              <p:par>
                                <p:cTn id="28" presetID="42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3043</TotalTime>
  <Words>2654</Words>
  <Application>Microsoft Office PowerPoint</Application>
  <PresentationFormat>Широкоэкранный</PresentationFormat>
  <Paragraphs>242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3" baseType="lpstr">
      <vt:lpstr>Arial</vt:lpstr>
      <vt:lpstr>Arial Black</vt:lpstr>
      <vt:lpstr>Arial Narrow</vt:lpstr>
      <vt:lpstr>Тема Office</vt:lpstr>
      <vt:lpstr>Презентация PowerPoint</vt:lpstr>
      <vt:lpstr>Презентация PowerPoint</vt:lpstr>
      <vt:lpstr>СИСТЕМНАЯ ИНЖЕНЕНРИЯ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Основные понятия программной инженерии</vt:lpstr>
      <vt:lpstr>Спасибо за внимание 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Спирин Игорь Сергеевич</dc:creator>
  <cp:lastModifiedBy>Игорь Спирин</cp:lastModifiedBy>
  <cp:revision>106</cp:revision>
  <dcterms:created xsi:type="dcterms:W3CDTF">2019-02-17T12:40:45Z</dcterms:created>
  <dcterms:modified xsi:type="dcterms:W3CDTF">2026-02-12T17:08:56Z</dcterms:modified>
</cp:coreProperties>
</file>