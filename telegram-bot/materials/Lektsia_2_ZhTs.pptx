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307" r:id="rId5"/>
    <p:sldId id="260" r:id="rId6"/>
    <p:sldId id="262" r:id="rId7"/>
    <p:sldId id="263" r:id="rId8"/>
    <p:sldId id="308" r:id="rId9"/>
    <p:sldId id="264" r:id="rId10"/>
    <p:sldId id="265" r:id="rId11"/>
    <p:sldId id="266" r:id="rId12"/>
    <p:sldId id="267" r:id="rId13"/>
    <p:sldId id="268" r:id="rId14"/>
    <p:sldId id="309" r:id="rId15"/>
    <p:sldId id="269" r:id="rId16"/>
    <p:sldId id="310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311" r:id="rId27"/>
    <p:sldId id="279" r:id="rId28"/>
    <p:sldId id="280" r:id="rId29"/>
    <p:sldId id="312" r:id="rId30"/>
    <p:sldId id="281" r:id="rId31"/>
    <p:sldId id="282" r:id="rId32"/>
    <p:sldId id="283" r:id="rId33"/>
    <p:sldId id="313" r:id="rId34"/>
    <p:sldId id="284" r:id="rId35"/>
    <p:sldId id="285" r:id="rId36"/>
    <p:sldId id="286" r:id="rId37"/>
    <p:sldId id="314" r:id="rId38"/>
    <p:sldId id="287" r:id="rId39"/>
    <p:sldId id="289" r:id="rId40"/>
    <p:sldId id="292" r:id="rId41"/>
    <p:sldId id="290" r:id="rId42"/>
    <p:sldId id="296" r:id="rId43"/>
    <p:sldId id="291" r:id="rId44"/>
    <p:sldId id="293" r:id="rId45"/>
    <p:sldId id="294" r:id="rId46"/>
    <p:sldId id="297" r:id="rId47"/>
    <p:sldId id="295" r:id="rId48"/>
    <p:sldId id="298" r:id="rId49"/>
    <p:sldId id="299" r:id="rId50"/>
    <p:sldId id="288" r:id="rId51"/>
    <p:sldId id="300" r:id="rId52"/>
    <p:sldId id="302" r:id="rId53"/>
    <p:sldId id="303" r:id="rId54"/>
    <p:sldId id="304" r:id="rId55"/>
    <p:sldId id="301" r:id="rId56"/>
    <p:sldId id="305" r:id="rId57"/>
    <p:sldId id="306" r:id="rId58"/>
    <p:sldId id="261" r:id="rId5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0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DD0F7B-EBDA-4118-BE22-8EDF65C0767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DC4A08D-FC42-4EE4-A953-5AD881CC1D9F}">
      <dgm:prSet phldrT="[Текст]" custT="1"/>
      <dgm:spPr/>
      <dgm:t>
        <a:bodyPr/>
        <a:lstStyle/>
        <a:p>
          <a:r>
            <a:rPr lang="ru-RU" sz="2400" dirty="0"/>
            <a:t>ЭТАПЫ РАЗРАБОТКИ ПО</a:t>
          </a:r>
        </a:p>
      </dgm:t>
    </dgm:pt>
    <dgm:pt modelId="{D9B7F2C7-363B-4DF7-B27B-273D4994C7F9}" type="parTrans" cxnId="{70F9DE77-E99B-4E54-A841-AA43761B9B4E}">
      <dgm:prSet/>
      <dgm:spPr/>
      <dgm:t>
        <a:bodyPr/>
        <a:lstStyle/>
        <a:p>
          <a:endParaRPr lang="ru-RU" sz="2400"/>
        </a:p>
      </dgm:t>
    </dgm:pt>
    <dgm:pt modelId="{7F988D20-C177-47D6-8B1B-FFD0E694E136}" type="sibTrans" cxnId="{70F9DE77-E99B-4E54-A841-AA43761B9B4E}">
      <dgm:prSet/>
      <dgm:spPr/>
      <dgm:t>
        <a:bodyPr/>
        <a:lstStyle/>
        <a:p>
          <a:endParaRPr lang="ru-RU" sz="2400"/>
        </a:p>
      </dgm:t>
    </dgm:pt>
    <dgm:pt modelId="{C0A9DC8E-8A3A-4585-889E-662496AEC9F0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Анализ требований к системе и определение спецификаций (6 %)</a:t>
          </a:r>
          <a:endParaRPr lang="ru-RU" sz="2400" dirty="0"/>
        </a:p>
      </dgm:t>
    </dgm:pt>
    <dgm:pt modelId="{252AD29E-1C4E-4738-B936-816B9C2A6622}" type="parTrans" cxnId="{8C9EF75B-D0B6-4878-B962-23C16FDEDF54}">
      <dgm:prSet custT="1"/>
      <dgm:spPr/>
      <dgm:t>
        <a:bodyPr/>
        <a:lstStyle/>
        <a:p>
          <a:endParaRPr lang="ru-RU" sz="2400"/>
        </a:p>
      </dgm:t>
    </dgm:pt>
    <dgm:pt modelId="{AF9F7290-E4FA-45B8-86C4-4B049B0EE57E}" type="sibTrans" cxnId="{8C9EF75B-D0B6-4878-B962-23C16FDEDF54}">
      <dgm:prSet/>
      <dgm:spPr/>
      <dgm:t>
        <a:bodyPr/>
        <a:lstStyle/>
        <a:p>
          <a:endParaRPr lang="ru-RU" sz="2400"/>
        </a:p>
      </dgm:t>
    </dgm:pt>
    <dgm:pt modelId="{BC77ADD0-0138-41C2-A8DE-4A117FF02D7A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Проектирование (5 %)</a:t>
          </a:r>
          <a:endParaRPr lang="ru-RU" sz="2400" dirty="0"/>
        </a:p>
      </dgm:t>
    </dgm:pt>
    <dgm:pt modelId="{2303895B-14A0-4E75-8A51-C30528526ECA}" type="parTrans" cxnId="{7417A583-77B9-4E9C-BF44-B0F5EF9D1FF4}">
      <dgm:prSet custT="1"/>
      <dgm:spPr/>
      <dgm:t>
        <a:bodyPr/>
        <a:lstStyle/>
        <a:p>
          <a:endParaRPr lang="ru-RU" sz="2400"/>
        </a:p>
      </dgm:t>
    </dgm:pt>
    <dgm:pt modelId="{7968C2FC-2109-4DF8-A3CD-43DD828CDD1F}" type="sibTrans" cxnId="{7417A583-77B9-4E9C-BF44-B0F5EF9D1FF4}">
      <dgm:prSet/>
      <dgm:spPr/>
      <dgm:t>
        <a:bodyPr/>
        <a:lstStyle/>
        <a:p>
          <a:endParaRPr lang="ru-RU" sz="2400"/>
        </a:p>
      </dgm:t>
    </dgm:pt>
    <dgm:pt modelId="{2050FBB0-861D-4014-8964-30C6E073DF6F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Кодирование (7 %)</a:t>
          </a:r>
          <a:endParaRPr lang="ru-RU" sz="2400" dirty="0"/>
        </a:p>
      </dgm:t>
    </dgm:pt>
    <dgm:pt modelId="{DEDF6DFF-13F3-43E2-874F-6D6A08662110}" type="parTrans" cxnId="{59933745-7443-4B46-AA8D-410996020428}">
      <dgm:prSet custT="1"/>
      <dgm:spPr/>
      <dgm:t>
        <a:bodyPr/>
        <a:lstStyle/>
        <a:p>
          <a:endParaRPr lang="ru-RU" sz="2400"/>
        </a:p>
      </dgm:t>
    </dgm:pt>
    <dgm:pt modelId="{3B4DC298-64E4-4647-A1AA-3FA1F1009356}" type="sibTrans" cxnId="{59933745-7443-4B46-AA8D-410996020428}">
      <dgm:prSet/>
      <dgm:spPr/>
      <dgm:t>
        <a:bodyPr/>
        <a:lstStyle/>
        <a:p>
          <a:endParaRPr lang="ru-RU" sz="2400"/>
        </a:p>
      </dgm:t>
    </dgm:pt>
    <dgm:pt modelId="{EEA956A1-9670-44B6-AB9B-FC92EFE2D33C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Тестирование (15%)</a:t>
          </a:r>
          <a:endParaRPr lang="ru-RU" sz="2400" dirty="0"/>
        </a:p>
      </dgm:t>
    </dgm:pt>
    <dgm:pt modelId="{58990D3F-09E3-4D62-8D02-E396C4D8719F}" type="parTrans" cxnId="{1C34D8EF-9742-4227-81FF-8A12E14A4A8C}">
      <dgm:prSet custT="1"/>
      <dgm:spPr/>
      <dgm:t>
        <a:bodyPr/>
        <a:lstStyle/>
        <a:p>
          <a:endParaRPr lang="ru-RU" sz="2400"/>
        </a:p>
      </dgm:t>
    </dgm:pt>
    <dgm:pt modelId="{9391B07D-85E5-426A-BFAB-3BB37774778B}" type="sibTrans" cxnId="{1C34D8EF-9742-4227-81FF-8A12E14A4A8C}">
      <dgm:prSet/>
      <dgm:spPr/>
      <dgm:t>
        <a:bodyPr/>
        <a:lstStyle/>
        <a:p>
          <a:endParaRPr lang="ru-RU" sz="2400"/>
        </a:p>
      </dgm:t>
    </dgm:pt>
    <dgm:pt modelId="{E17C7E97-F9B4-46CC-A1DB-2716E9895AF1}">
      <dgm:prSet phldrT="[Текст]" custT="1"/>
      <dgm:spPr/>
      <dgm:t>
        <a:bodyPr/>
        <a:lstStyle/>
        <a:p>
          <a:r>
            <a:rPr lang="ru-RU" altLang="ru-RU" sz="2400" b="1">
              <a:solidFill>
                <a:srgbClr val="F8F8F8"/>
              </a:solidFill>
            </a:rPr>
            <a:t>Автономное (8 %)</a:t>
          </a:r>
          <a:endParaRPr lang="ru-RU" sz="2400" dirty="0"/>
        </a:p>
      </dgm:t>
    </dgm:pt>
    <dgm:pt modelId="{750EFDB4-6FDE-4AC7-8B46-4D85DBC61188}" type="parTrans" cxnId="{21D20921-5118-47D7-952D-B318C7629684}">
      <dgm:prSet custT="1"/>
      <dgm:spPr/>
      <dgm:t>
        <a:bodyPr/>
        <a:lstStyle/>
        <a:p>
          <a:endParaRPr lang="ru-RU" sz="2400"/>
        </a:p>
      </dgm:t>
    </dgm:pt>
    <dgm:pt modelId="{47DFE159-C4D0-4FD5-BD19-DD9AADE4D5A0}" type="sibTrans" cxnId="{21D20921-5118-47D7-952D-B318C7629684}">
      <dgm:prSet/>
      <dgm:spPr/>
      <dgm:t>
        <a:bodyPr/>
        <a:lstStyle/>
        <a:p>
          <a:endParaRPr lang="ru-RU" sz="2400"/>
        </a:p>
      </dgm:t>
    </dgm:pt>
    <dgm:pt modelId="{A402B274-59B1-4459-AA8C-FF97FF864EE1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Комплексное (7 %)</a:t>
          </a:r>
          <a:endParaRPr lang="ru-RU" sz="2400" dirty="0"/>
        </a:p>
      </dgm:t>
    </dgm:pt>
    <dgm:pt modelId="{36778E81-F8B5-46FB-A94A-FE6C9D68D579}" type="parTrans" cxnId="{E719F3E8-47D9-48F0-85D6-50CC7C90B117}">
      <dgm:prSet custT="1"/>
      <dgm:spPr/>
      <dgm:t>
        <a:bodyPr/>
        <a:lstStyle/>
        <a:p>
          <a:endParaRPr lang="ru-RU" sz="2400"/>
        </a:p>
      </dgm:t>
    </dgm:pt>
    <dgm:pt modelId="{6B46F30B-8FE5-4B62-8CAE-DD96E1DE6EE8}" type="sibTrans" cxnId="{E719F3E8-47D9-48F0-85D6-50CC7C90B117}">
      <dgm:prSet/>
      <dgm:spPr/>
      <dgm:t>
        <a:bodyPr/>
        <a:lstStyle/>
        <a:p>
          <a:endParaRPr lang="ru-RU" sz="2400"/>
        </a:p>
      </dgm:t>
    </dgm:pt>
    <dgm:pt modelId="{AB8DDD27-0B06-4172-B53E-43B36B95CE23}">
      <dgm:prSet phldrT="[Текст]" custT="1"/>
      <dgm:spPr/>
      <dgm:t>
        <a:bodyPr/>
        <a:lstStyle/>
        <a:p>
          <a:r>
            <a:rPr lang="ru-RU" altLang="ru-RU" sz="2400" b="1" dirty="0">
              <a:solidFill>
                <a:srgbClr val="F8F8F8"/>
              </a:solidFill>
            </a:rPr>
            <a:t>Эксплуатация и сопровождение (67 %)</a:t>
          </a:r>
          <a:endParaRPr lang="ru-RU" sz="2400" dirty="0"/>
        </a:p>
      </dgm:t>
    </dgm:pt>
    <dgm:pt modelId="{8644EBAA-E360-4188-B7C9-23B01E6AAA86}" type="parTrans" cxnId="{F0D144CC-6207-479A-A0EE-2BBD86FB6E7C}">
      <dgm:prSet custT="1"/>
      <dgm:spPr/>
      <dgm:t>
        <a:bodyPr/>
        <a:lstStyle/>
        <a:p>
          <a:endParaRPr lang="ru-RU" sz="2400"/>
        </a:p>
      </dgm:t>
    </dgm:pt>
    <dgm:pt modelId="{35A6BA58-92D5-49A6-927B-47A893AD0144}" type="sibTrans" cxnId="{F0D144CC-6207-479A-A0EE-2BBD86FB6E7C}">
      <dgm:prSet/>
      <dgm:spPr/>
      <dgm:t>
        <a:bodyPr/>
        <a:lstStyle/>
        <a:p>
          <a:endParaRPr lang="ru-RU" sz="2400"/>
        </a:p>
      </dgm:t>
    </dgm:pt>
    <dgm:pt modelId="{59E5F5A2-B416-4867-90A7-99FE3C0B2050}" type="pres">
      <dgm:prSet presAssocID="{1CDD0F7B-EBDA-4118-BE22-8EDF65C0767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641B271-1E7F-4AB2-AEE0-D108DE59DB60}" type="pres">
      <dgm:prSet presAssocID="{4DC4A08D-FC42-4EE4-A953-5AD881CC1D9F}" presName="root1" presStyleCnt="0"/>
      <dgm:spPr/>
    </dgm:pt>
    <dgm:pt modelId="{4CB8E57E-6687-4803-914F-7F0A766CB800}" type="pres">
      <dgm:prSet presAssocID="{4DC4A08D-FC42-4EE4-A953-5AD881CC1D9F}" presName="LevelOneTextNode" presStyleLbl="node0" presStyleIdx="0" presStyleCnt="1">
        <dgm:presLayoutVars>
          <dgm:chPref val="3"/>
        </dgm:presLayoutVars>
      </dgm:prSet>
      <dgm:spPr/>
    </dgm:pt>
    <dgm:pt modelId="{E60DFF2C-A69B-4000-ABBC-0D368CEF6968}" type="pres">
      <dgm:prSet presAssocID="{4DC4A08D-FC42-4EE4-A953-5AD881CC1D9F}" presName="level2hierChild" presStyleCnt="0"/>
      <dgm:spPr/>
    </dgm:pt>
    <dgm:pt modelId="{035BF5ED-7FA8-40A1-8568-1E98363EB354}" type="pres">
      <dgm:prSet presAssocID="{252AD29E-1C4E-4738-B936-816B9C2A6622}" presName="conn2-1" presStyleLbl="parChTrans1D2" presStyleIdx="0" presStyleCnt="5"/>
      <dgm:spPr/>
    </dgm:pt>
    <dgm:pt modelId="{74514244-B1F2-46F8-889F-946563AD81CA}" type="pres">
      <dgm:prSet presAssocID="{252AD29E-1C4E-4738-B936-816B9C2A6622}" presName="connTx" presStyleLbl="parChTrans1D2" presStyleIdx="0" presStyleCnt="5"/>
      <dgm:spPr/>
    </dgm:pt>
    <dgm:pt modelId="{065D9AE3-8B17-4837-B77F-7F4124F75872}" type="pres">
      <dgm:prSet presAssocID="{C0A9DC8E-8A3A-4585-889E-662496AEC9F0}" presName="root2" presStyleCnt="0"/>
      <dgm:spPr/>
    </dgm:pt>
    <dgm:pt modelId="{11BD3E5C-3FD9-40CF-85EF-61EE8D0D43CF}" type="pres">
      <dgm:prSet presAssocID="{C0A9DC8E-8A3A-4585-889E-662496AEC9F0}" presName="LevelTwoTextNode" presStyleLbl="node2" presStyleIdx="0" presStyleCnt="5" custScaleX="220627">
        <dgm:presLayoutVars>
          <dgm:chPref val="3"/>
        </dgm:presLayoutVars>
      </dgm:prSet>
      <dgm:spPr/>
    </dgm:pt>
    <dgm:pt modelId="{62C9E0D5-FC55-4873-A116-B4AE0C1A9624}" type="pres">
      <dgm:prSet presAssocID="{C0A9DC8E-8A3A-4585-889E-662496AEC9F0}" presName="level3hierChild" presStyleCnt="0"/>
      <dgm:spPr/>
    </dgm:pt>
    <dgm:pt modelId="{56D17596-D38B-4966-8CEF-03ECF6D0C763}" type="pres">
      <dgm:prSet presAssocID="{2303895B-14A0-4E75-8A51-C30528526ECA}" presName="conn2-1" presStyleLbl="parChTrans1D2" presStyleIdx="1" presStyleCnt="5"/>
      <dgm:spPr/>
    </dgm:pt>
    <dgm:pt modelId="{95D52AA9-0440-4FD6-9669-0CE501A6EB59}" type="pres">
      <dgm:prSet presAssocID="{2303895B-14A0-4E75-8A51-C30528526ECA}" presName="connTx" presStyleLbl="parChTrans1D2" presStyleIdx="1" presStyleCnt="5"/>
      <dgm:spPr/>
    </dgm:pt>
    <dgm:pt modelId="{D4AA4612-563C-4018-909A-A8E231EEED89}" type="pres">
      <dgm:prSet presAssocID="{BC77ADD0-0138-41C2-A8DE-4A117FF02D7A}" presName="root2" presStyleCnt="0"/>
      <dgm:spPr/>
    </dgm:pt>
    <dgm:pt modelId="{C1C75D8C-CD47-42BB-8E6C-416BC10571DF}" type="pres">
      <dgm:prSet presAssocID="{BC77ADD0-0138-41C2-A8DE-4A117FF02D7A}" presName="LevelTwoTextNode" presStyleLbl="node2" presStyleIdx="1" presStyleCnt="5" custScaleX="220627">
        <dgm:presLayoutVars>
          <dgm:chPref val="3"/>
        </dgm:presLayoutVars>
      </dgm:prSet>
      <dgm:spPr/>
    </dgm:pt>
    <dgm:pt modelId="{B11486FF-F8D5-4E97-A246-36E5F454709D}" type="pres">
      <dgm:prSet presAssocID="{BC77ADD0-0138-41C2-A8DE-4A117FF02D7A}" presName="level3hierChild" presStyleCnt="0"/>
      <dgm:spPr/>
    </dgm:pt>
    <dgm:pt modelId="{62037B94-9938-4E11-B7A0-4831315EF2A9}" type="pres">
      <dgm:prSet presAssocID="{DEDF6DFF-13F3-43E2-874F-6D6A08662110}" presName="conn2-1" presStyleLbl="parChTrans1D2" presStyleIdx="2" presStyleCnt="5"/>
      <dgm:spPr/>
    </dgm:pt>
    <dgm:pt modelId="{80D6763E-1B1F-4A66-993B-674440B9D4FE}" type="pres">
      <dgm:prSet presAssocID="{DEDF6DFF-13F3-43E2-874F-6D6A08662110}" presName="connTx" presStyleLbl="parChTrans1D2" presStyleIdx="2" presStyleCnt="5"/>
      <dgm:spPr/>
    </dgm:pt>
    <dgm:pt modelId="{9DE148BB-7F73-4D5A-85DD-2C3F3120BE44}" type="pres">
      <dgm:prSet presAssocID="{2050FBB0-861D-4014-8964-30C6E073DF6F}" presName="root2" presStyleCnt="0"/>
      <dgm:spPr/>
    </dgm:pt>
    <dgm:pt modelId="{9CE05DFA-0EFC-4665-86D1-448ECC71223D}" type="pres">
      <dgm:prSet presAssocID="{2050FBB0-861D-4014-8964-30C6E073DF6F}" presName="LevelTwoTextNode" presStyleLbl="node2" presStyleIdx="2" presStyleCnt="5" custScaleX="220627">
        <dgm:presLayoutVars>
          <dgm:chPref val="3"/>
        </dgm:presLayoutVars>
      </dgm:prSet>
      <dgm:spPr/>
    </dgm:pt>
    <dgm:pt modelId="{8E55021D-F828-450C-AA32-B93178046E4B}" type="pres">
      <dgm:prSet presAssocID="{2050FBB0-861D-4014-8964-30C6E073DF6F}" presName="level3hierChild" presStyleCnt="0"/>
      <dgm:spPr/>
    </dgm:pt>
    <dgm:pt modelId="{E1D88C90-D57E-4B6D-A0BA-2A38D6E068E7}" type="pres">
      <dgm:prSet presAssocID="{58990D3F-09E3-4D62-8D02-E396C4D8719F}" presName="conn2-1" presStyleLbl="parChTrans1D2" presStyleIdx="3" presStyleCnt="5"/>
      <dgm:spPr/>
    </dgm:pt>
    <dgm:pt modelId="{B8AFCB25-8B00-4EEA-BC59-6AA222AE41CD}" type="pres">
      <dgm:prSet presAssocID="{58990D3F-09E3-4D62-8D02-E396C4D8719F}" presName="connTx" presStyleLbl="parChTrans1D2" presStyleIdx="3" presStyleCnt="5"/>
      <dgm:spPr/>
    </dgm:pt>
    <dgm:pt modelId="{05F987DB-B715-4869-B8FA-D460B7919D15}" type="pres">
      <dgm:prSet presAssocID="{EEA956A1-9670-44B6-AB9B-FC92EFE2D33C}" presName="root2" presStyleCnt="0"/>
      <dgm:spPr/>
    </dgm:pt>
    <dgm:pt modelId="{7F711313-A986-41D8-9B25-793104C29384}" type="pres">
      <dgm:prSet presAssocID="{EEA956A1-9670-44B6-AB9B-FC92EFE2D33C}" presName="LevelTwoTextNode" presStyleLbl="node2" presStyleIdx="3" presStyleCnt="5" custScaleX="220627">
        <dgm:presLayoutVars>
          <dgm:chPref val="3"/>
        </dgm:presLayoutVars>
      </dgm:prSet>
      <dgm:spPr/>
    </dgm:pt>
    <dgm:pt modelId="{FF1C133E-71C4-4EE7-B329-1D41A00C48F3}" type="pres">
      <dgm:prSet presAssocID="{EEA956A1-9670-44B6-AB9B-FC92EFE2D33C}" presName="level3hierChild" presStyleCnt="0"/>
      <dgm:spPr/>
    </dgm:pt>
    <dgm:pt modelId="{193407C6-9846-4D71-AACA-5C2B1A212A27}" type="pres">
      <dgm:prSet presAssocID="{750EFDB4-6FDE-4AC7-8B46-4D85DBC61188}" presName="conn2-1" presStyleLbl="parChTrans1D3" presStyleIdx="0" presStyleCnt="2"/>
      <dgm:spPr/>
    </dgm:pt>
    <dgm:pt modelId="{2D4B1483-29A5-4CFD-9B4A-37D3D5E29BE8}" type="pres">
      <dgm:prSet presAssocID="{750EFDB4-6FDE-4AC7-8B46-4D85DBC61188}" presName="connTx" presStyleLbl="parChTrans1D3" presStyleIdx="0" presStyleCnt="2"/>
      <dgm:spPr/>
    </dgm:pt>
    <dgm:pt modelId="{167BC3E0-56F4-4FD3-BF56-C8585087F312}" type="pres">
      <dgm:prSet presAssocID="{E17C7E97-F9B4-46CC-A1DB-2716E9895AF1}" presName="root2" presStyleCnt="0"/>
      <dgm:spPr/>
    </dgm:pt>
    <dgm:pt modelId="{6AEA44A2-C708-4134-8AE7-17312B2EFF7C}" type="pres">
      <dgm:prSet presAssocID="{E17C7E97-F9B4-46CC-A1DB-2716E9895AF1}" presName="LevelTwoTextNode" presStyleLbl="node3" presStyleIdx="0" presStyleCnt="2">
        <dgm:presLayoutVars>
          <dgm:chPref val="3"/>
        </dgm:presLayoutVars>
      </dgm:prSet>
      <dgm:spPr/>
    </dgm:pt>
    <dgm:pt modelId="{FD3EE277-024E-4892-8FEB-1B18CDD69707}" type="pres">
      <dgm:prSet presAssocID="{E17C7E97-F9B4-46CC-A1DB-2716E9895AF1}" presName="level3hierChild" presStyleCnt="0"/>
      <dgm:spPr/>
    </dgm:pt>
    <dgm:pt modelId="{45F4957D-80D3-47AA-B651-1EF767838729}" type="pres">
      <dgm:prSet presAssocID="{36778E81-F8B5-46FB-A94A-FE6C9D68D579}" presName="conn2-1" presStyleLbl="parChTrans1D3" presStyleIdx="1" presStyleCnt="2"/>
      <dgm:spPr/>
    </dgm:pt>
    <dgm:pt modelId="{BA1C5D18-91CD-4128-8D8A-4F553B7EF02D}" type="pres">
      <dgm:prSet presAssocID="{36778E81-F8B5-46FB-A94A-FE6C9D68D579}" presName="connTx" presStyleLbl="parChTrans1D3" presStyleIdx="1" presStyleCnt="2"/>
      <dgm:spPr/>
    </dgm:pt>
    <dgm:pt modelId="{C1F0C4F9-3E83-4854-9848-CF0D6C2EA0D5}" type="pres">
      <dgm:prSet presAssocID="{A402B274-59B1-4459-AA8C-FF97FF864EE1}" presName="root2" presStyleCnt="0"/>
      <dgm:spPr/>
    </dgm:pt>
    <dgm:pt modelId="{573C6833-D054-452B-A1B8-F0C15988D630}" type="pres">
      <dgm:prSet presAssocID="{A402B274-59B1-4459-AA8C-FF97FF864EE1}" presName="LevelTwoTextNode" presStyleLbl="node3" presStyleIdx="1" presStyleCnt="2">
        <dgm:presLayoutVars>
          <dgm:chPref val="3"/>
        </dgm:presLayoutVars>
      </dgm:prSet>
      <dgm:spPr/>
    </dgm:pt>
    <dgm:pt modelId="{E78619B9-7476-4D8A-BA5E-C8B1DB497705}" type="pres">
      <dgm:prSet presAssocID="{A402B274-59B1-4459-AA8C-FF97FF864EE1}" presName="level3hierChild" presStyleCnt="0"/>
      <dgm:spPr/>
    </dgm:pt>
    <dgm:pt modelId="{B81FDD02-4468-4E13-9EB0-08A3E81D663E}" type="pres">
      <dgm:prSet presAssocID="{8644EBAA-E360-4188-B7C9-23B01E6AAA86}" presName="conn2-1" presStyleLbl="parChTrans1D2" presStyleIdx="4" presStyleCnt="5"/>
      <dgm:spPr/>
    </dgm:pt>
    <dgm:pt modelId="{FDEA60D1-DD16-4BE3-812C-555F0A452DBF}" type="pres">
      <dgm:prSet presAssocID="{8644EBAA-E360-4188-B7C9-23B01E6AAA86}" presName="connTx" presStyleLbl="parChTrans1D2" presStyleIdx="4" presStyleCnt="5"/>
      <dgm:spPr/>
    </dgm:pt>
    <dgm:pt modelId="{E80416EC-7FA6-42FB-8C84-6189028B2447}" type="pres">
      <dgm:prSet presAssocID="{AB8DDD27-0B06-4172-B53E-43B36B95CE23}" presName="root2" presStyleCnt="0"/>
      <dgm:spPr/>
    </dgm:pt>
    <dgm:pt modelId="{EAFF33E8-10AB-4383-BCAE-C9C9F25AC0B0}" type="pres">
      <dgm:prSet presAssocID="{AB8DDD27-0B06-4172-B53E-43B36B95CE23}" presName="LevelTwoTextNode" presStyleLbl="node2" presStyleIdx="4" presStyleCnt="5" custScaleX="220627">
        <dgm:presLayoutVars>
          <dgm:chPref val="3"/>
        </dgm:presLayoutVars>
      </dgm:prSet>
      <dgm:spPr/>
    </dgm:pt>
    <dgm:pt modelId="{87137952-FCCD-4B04-8475-25B15E211838}" type="pres">
      <dgm:prSet presAssocID="{AB8DDD27-0B06-4172-B53E-43B36B95CE23}" presName="level3hierChild" presStyleCnt="0"/>
      <dgm:spPr/>
    </dgm:pt>
  </dgm:ptLst>
  <dgm:cxnLst>
    <dgm:cxn modelId="{21D20921-5118-47D7-952D-B318C7629684}" srcId="{EEA956A1-9670-44B6-AB9B-FC92EFE2D33C}" destId="{E17C7E97-F9B4-46CC-A1DB-2716E9895AF1}" srcOrd="0" destOrd="0" parTransId="{750EFDB4-6FDE-4AC7-8B46-4D85DBC61188}" sibTransId="{47DFE159-C4D0-4FD5-BD19-DD9AADE4D5A0}"/>
    <dgm:cxn modelId="{1770BB2F-307E-48F7-AD25-4223271B49B7}" type="presOf" srcId="{58990D3F-09E3-4D62-8D02-E396C4D8719F}" destId="{B8AFCB25-8B00-4EEA-BC59-6AA222AE41CD}" srcOrd="1" destOrd="0" presId="urn:microsoft.com/office/officeart/2008/layout/HorizontalMultiLevelHierarchy"/>
    <dgm:cxn modelId="{300E7E31-A137-41B4-837B-F21A5F5F0A7B}" type="presOf" srcId="{BC77ADD0-0138-41C2-A8DE-4A117FF02D7A}" destId="{C1C75D8C-CD47-42BB-8E6C-416BC10571DF}" srcOrd="0" destOrd="0" presId="urn:microsoft.com/office/officeart/2008/layout/HorizontalMultiLevelHierarchy"/>
    <dgm:cxn modelId="{8C9EF75B-D0B6-4878-B962-23C16FDEDF54}" srcId="{4DC4A08D-FC42-4EE4-A953-5AD881CC1D9F}" destId="{C0A9DC8E-8A3A-4585-889E-662496AEC9F0}" srcOrd="0" destOrd="0" parTransId="{252AD29E-1C4E-4738-B936-816B9C2A6622}" sibTransId="{AF9F7290-E4FA-45B8-86C4-4B049B0EE57E}"/>
    <dgm:cxn modelId="{A01F1761-090F-4EB9-A505-2A964998AF9C}" type="presOf" srcId="{2303895B-14A0-4E75-8A51-C30528526ECA}" destId="{95D52AA9-0440-4FD6-9669-0CE501A6EB59}" srcOrd="1" destOrd="0" presId="urn:microsoft.com/office/officeart/2008/layout/HorizontalMultiLevelHierarchy"/>
    <dgm:cxn modelId="{59933745-7443-4B46-AA8D-410996020428}" srcId="{4DC4A08D-FC42-4EE4-A953-5AD881CC1D9F}" destId="{2050FBB0-861D-4014-8964-30C6E073DF6F}" srcOrd="2" destOrd="0" parTransId="{DEDF6DFF-13F3-43E2-874F-6D6A08662110}" sibTransId="{3B4DC298-64E4-4647-A1AA-3FA1F1009356}"/>
    <dgm:cxn modelId="{D61BDF49-D4FE-48BE-B6AB-687E3FC0688D}" type="presOf" srcId="{8644EBAA-E360-4188-B7C9-23B01E6AAA86}" destId="{B81FDD02-4468-4E13-9EB0-08A3E81D663E}" srcOrd="0" destOrd="0" presId="urn:microsoft.com/office/officeart/2008/layout/HorizontalMultiLevelHierarchy"/>
    <dgm:cxn modelId="{9FFEEA4A-DC3F-44FA-8E70-BD1E79D1CCF5}" type="presOf" srcId="{750EFDB4-6FDE-4AC7-8B46-4D85DBC61188}" destId="{2D4B1483-29A5-4CFD-9B4A-37D3D5E29BE8}" srcOrd="1" destOrd="0" presId="urn:microsoft.com/office/officeart/2008/layout/HorizontalMultiLevelHierarchy"/>
    <dgm:cxn modelId="{D9381750-D284-41D9-9A61-FFD42117982A}" type="presOf" srcId="{1CDD0F7B-EBDA-4118-BE22-8EDF65C07676}" destId="{59E5F5A2-B416-4867-90A7-99FE3C0B2050}" srcOrd="0" destOrd="0" presId="urn:microsoft.com/office/officeart/2008/layout/HorizontalMultiLevelHierarchy"/>
    <dgm:cxn modelId="{8B225A70-F083-4443-A063-73589742DB27}" type="presOf" srcId="{DEDF6DFF-13F3-43E2-874F-6D6A08662110}" destId="{80D6763E-1B1F-4A66-993B-674440B9D4FE}" srcOrd="1" destOrd="0" presId="urn:microsoft.com/office/officeart/2008/layout/HorizontalMultiLevelHierarchy"/>
    <dgm:cxn modelId="{4041FA72-A907-441A-B7CA-4E44B90E82FB}" type="presOf" srcId="{36778E81-F8B5-46FB-A94A-FE6C9D68D579}" destId="{45F4957D-80D3-47AA-B651-1EF767838729}" srcOrd="0" destOrd="0" presId="urn:microsoft.com/office/officeart/2008/layout/HorizontalMultiLevelHierarchy"/>
    <dgm:cxn modelId="{70F9DE77-E99B-4E54-A841-AA43761B9B4E}" srcId="{1CDD0F7B-EBDA-4118-BE22-8EDF65C07676}" destId="{4DC4A08D-FC42-4EE4-A953-5AD881CC1D9F}" srcOrd="0" destOrd="0" parTransId="{D9B7F2C7-363B-4DF7-B27B-273D4994C7F9}" sibTransId="{7F988D20-C177-47D6-8B1B-FFD0E694E136}"/>
    <dgm:cxn modelId="{11963E58-8264-4C29-8BD6-B71C0C8552F8}" type="presOf" srcId="{EEA956A1-9670-44B6-AB9B-FC92EFE2D33C}" destId="{7F711313-A986-41D8-9B25-793104C29384}" srcOrd="0" destOrd="0" presId="urn:microsoft.com/office/officeart/2008/layout/HorizontalMultiLevelHierarchy"/>
    <dgm:cxn modelId="{77125858-91D4-429F-9A2C-2F0052968DA5}" type="presOf" srcId="{252AD29E-1C4E-4738-B936-816B9C2A6622}" destId="{74514244-B1F2-46F8-889F-946563AD81CA}" srcOrd="1" destOrd="0" presId="urn:microsoft.com/office/officeart/2008/layout/HorizontalMultiLevelHierarchy"/>
    <dgm:cxn modelId="{7417A583-77B9-4E9C-BF44-B0F5EF9D1FF4}" srcId="{4DC4A08D-FC42-4EE4-A953-5AD881CC1D9F}" destId="{BC77ADD0-0138-41C2-A8DE-4A117FF02D7A}" srcOrd="1" destOrd="0" parTransId="{2303895B-14A0-4E75-8A51-C30528526ECA}" sibTransId="{7968C2FC-2109-4DF8-A3CD-43DD828CDD1F}"/>
    <dgm:cxn modelId="{5D0C6E8E-4393-4848-8C52-BF31D732CB1A}" type="presOf" srcId="{2050FBB0-861D-4014-8964-30C6E073DF6F}" destId="{9CE05DFA-0EFC-4665-86D1-448ECC71223D}" srcOrd="0" destOrd="0" presId="urn:microsoft.com/office/officeart/2008/layout/HorizontalMultiLevelHierarchy"/>
    <dgm:cxn modelId="{6A90EF96-F9F9-42CC-BDC6-65FFD8A25E8D}" type="presOf" srcId="{E17C7E97-F9B4-46CC-A1DB-2716E9895AF1}" destId="{6AEA44A2-C708-4134-8AE7-17312B2EFF7C}" srcOrd="0" destOrd="0" presId="urn:microsoft.com/office/officeart/2008/layout/HorizontalMultiLevelHierarchy"/>
    <dgm:cxn modelId="{5C23719C-1A41-4399-B02C-616A0BD9C679}" type="presOf" srcId="{36778E81-F8B5-46FB-A94A-FE6C9D68D579}" destId="{BA1C5D18-91CD-4128-8D8A-4F553B7EF02D}" srcOrd="1" destOrd="0" presId="urn:microsoft.com/office/officeart/2008/layout/HorizontalMultiLevelHierarchy"/>
    <dgm:cxn modelId="{EDDD68AF-09B3-4D38-8A99-B2839440ED71}" type="presOf" srcId="{750EFDB4-6FDE-4AC7-8B46-4D85DBC61188}" destId="{193407C6-9846-4D71-AACA-5C2B1A212A27}" srcOrd="0" destOrd="0" presId="urn:microsoft.com/office/officeart/2008/layout/HorizontalMultiLevelHierarchy"/>
    <dgm:cxn modelId="{00687FB5-9462-4387-B6F3-EE8A6F43F831}" type="presOf" srcId="{A402B274-59B1-4459-AA8C-FF97FF864EE1}" destId="{573C6833-D054-452B-A1B8-F0C15988D630}" srcOrd="0" destOrd="0" presId="urn:microsoft.com/office/officeart/2008/layout/HorizontalMultiLevelHierarchy"/>
    <dgm:cxn modelId="{B45518B7-13F6-48C4-8B96-A204F5ACED9A}" type="presOf" srcId="{C0A9DC8E-8A3A-4585-889E-662496AEC9F0}" destId="{11BD3E5C-3FD9-40CF-85EF-61EE8D0D43CF}" srcOrd="0" destOrd="0" presId="urn:microsoft.com/office/officeart/2008/layout/HorizontalMultiLevelHierarchy"/>
    <dgm:cxn modelId="{7B6E20BD-1CA9-4F33-8C85-1A7785761EC9}" type="presOf" srcId="{58990D3F-09E3-4D62-8D02-E396C4D8719F}" destId="{E1D88C90-D57E-4B6D-A0BA-2A38D6E068E7}" srcOrd="0" destOrd="0" presId="urn:microsoft.com/office/officeart/2008/layout/HorizontalMultiLevelHierarchy"/>
    <dgm:cxn modelId="{682E8AC4-A256-4323-A955-22D74F4A86C0}" type="presOf" srcId="{DEDF6DFF-13F3-43E2-874F-6D6A08662110}" destId="{62037B94-9938-4E11-B7A0-4831315EF2A9}" srcOrd="0" destOrd="0" presId="urn:microsoft.com/office/officeart/2008/layout/HorizontalMultiLevelHierarchy"/>
    <dgm:cxn modelId="{820C84C9-4F9C-4C29-80E0-FA58BE21961D}" type="presOf" srcId="{8644EBAA-E360-4188-B7C9-23B01E6AAA86}" destId="{FDEA60D1-DD16-4BE3-812C-555F0A452DBF}" srcOrd="1" destOrd="0" presId="urn:microsoft.com/office/officeart/2008/layout/HorizontalMultiLevelHierarchy"/>
    <dgm:cxn modelId="{F0D144CC-6207-479A-A0EE-2BBD86FB6E7C}" srcId="{4DC4A08D-FC42-4EE4-A953-5AD881CC1D9F}" destId="{AB8DDD27-0B06-4172-B53E-43B36B95CE23}" srcOrd="4" destOrd="0" parTransId="{8644EBAA-E360-4188-B7C9-23B01E6AAA86}" sibTransId="{35A6BA58-92D5-49A6-927B-47A893AD0144}"/>
    <dgm:cxn modelId="{4D834DDC-2999-4C4A-8CE5-EB344D5195CD}" type="presOf" srcId="{2303895B-14A0-4E75-8A51-C30528526ECA}" destId="{56D17596-D38B-4966-8CEF-03ECF6D0C763}" srcOrd="0" destOrd="0" presId="urn:microsoft.com/office/officeart/2008/layout/HorizontalMultiLevelHierarchy"/>
    <dgm:cxn modelId="{E719F3E8-47D9-48F0-85D6-50CC7C90B117}" srcId="{EEA956A1-9670-44B6-AB9B-FC92EFE2D33C}" destId="{A402B274-59B1-4459-AA8C-FF97FF864EE1}" srcOrd="1" destOrd="0" parTransId="{36778E81-F8B5-46FB-A94A-FE6C9D68D579}" sibTransId="{6B46F30B-8FE5-4B62-8CAE-DD96E1DE6EE8}"/>
    <dgm:cxn modelId="{1C34D8EF-9742-4227-81FF-8A12E14A4A8C}" srcId="{4DC4A08D-FC42-4EE4-A953-5AD881CC1D9F}" destId="{EEA956A1-9670-44B6-AB9B-FC92EFE2D33C}" srcOrd="3" destOrd="0" parTransId="{58990D3F-09E3-4D62-8D02-E396C4D8719F}" sibTransId="{9391B07D-85E5-426A-BFAB-3BB37774778B}"/>
    <dgm:cxn modelId="{A7C7ADF9-23F4-4954-BFE6-4B8E4AF13C77}" type="presOf" srcId="{4DC4A08D-FC42-4EE4-A953-5AD881CC1D9F}" destId="{4CB8E57E-6687-4803-914F-7F0A766CB800}" srcOrd="0" destOrd="0" presId="urn:microsoft.com/office/officeart/2008/layout/HorizontalMultiLevelHierarchy"/>
    <dgm:cxn modelId="{F1309BFA-D24C-4E9C-94F4-BB8B51B7CB3A}" type="presOf" srcId="{AB8DDD27-0B06-4172-B53E-43B36B95CE23}" destId="{EAFF33E8-10AB-4383-BCAE-C9C9F25AC0B0}" srcOrd="0" destOrd="0" presId="urn:microsoft.com/office/officeart/2008/layout/HorizontalMultiLevelHierarchy"/>
    <dgm:cxn modelId="{75F877FC-1D68-4F9D-B1C5-F0252DEC5398}" type="presOf" srcId="{252AD29E-1C4E-4738-B936-816B9C2A6622}" destId="{035BF5ED-7FA8-40A1-8568-1E98363EB354}" srcOrd="0" destOrd="0" presId="urn:microsoft.com/office/officeart/2008/layout/HorizontalMultiLevelHierarchy"/>
    <dgm:cxn modelId="{22568B4C-0330-4878-A906-EB503A249D37}" type="presParOf" srcId="{59E5F5A2-B416-4867-90A7-99FE3C0B2050}" destId="{C641B271-1E7F-4AB2-AEE0-D108DE59DB60}" srcOrd="0" destOrd="0" presId="urn:microsoft.com/office/officeart/2008/layout/HorizontalMultiLevelHierarchy"/>
    <dgm:cxn modelId="{297796AF-1FB3-407B-B62C-D693BF1C210F}" type="presParOf" srcId="{C641B271-1E7F-4AB2-AEE0-D108DE59DB60}" destId="{4CB8E57E-6687-4803-914F-7F0A766CB800}" srcOrd="0" destOrd="0" presId="urn:microsoft.com/office/officeart/2008/layout/HorizontalMultiLevelHierarchy"/>
    <dgm:cxn modelId="{1EE36740-57E9-4D7F-A876-19180AC3E21E}" type="presParOf" srcId="{C641B271-1E7F-4AB2-AEE0-D108DE59DB60}" destId="{E60DFF2C-A69B-4000-ABBC-0D368CEF6968}" srcOrd="1" destOrd="0" presId="urn:microsoft.com/office/officeart/2008/layout/HorizontalMultiLevelHierarchy"/>
    <dgm:cxn modelId="{FD98DAB0-7526-4FB1-A615-8D6FC041D25A}" type="presParOf" srcId="{E60DFF2C-A69B-4000-ABBC-0D368CEF6968}" destId="{035BF5ED-7FA8-40A1-8568-1E98363EB354}" srcOrd="0" destOrd="0" presId="urn:microsoft.com/office/officeart/2008/layout/HorizontalMultiLevelHierarchy"/>
    <dgm:cxn modelId="{7AE0FDD3-E9D2-46BF-B73C-C85ED4D40E43}" type="presParOf" srcId="{035BF5ED-7FA8-40A1-8568-1E98363EB354}" destId="{74514244-B1F2-46F8-889F-946563AD81CA}" srcOrd="0" destOrd="0" presId="urn:microsoft.com/office/officeart/2008/layout/HorizontalMultiLevelHierarchy"/>
    <dgm:cxn modelId="{EA7DFFF9-8A0B-42E8-BFF1-EC24AD226F3E}" type="presParOf" srcId="{E60DFF2C-A69B-4000-ABBC-0D368CEF6968}" destId="{065D9AE3-8B17-4837-B77F-7F4124F75872}" srcOrd="1" destOrd="0" presId="urn:microsoft.com/office/officeart/2008/layout/HorizontalMultiLevelHierarchy"/>
    <dgm:cxn modelId="{7E36756A-5ED7-4A6B-893F-CDABC37E3961}" type="presParOf" srcId="{065D9AE3-8B17-4837-B77F-7F4124F75872}" destId="{11BD3E5C-3FD9-40CF-85EF-61EE8D0D43CF}" srcOrd="0" destOrd="0" presId="urn:microsoft.com/office/officeart/2008/layout/HorizontalMultiLevelHierarchy"/>
    <dgm:cxn modelId="{96DAD02D-CB6C-4F87-A2D2-F3065940F2D7}" type="presParOf" srcId="{065D9AE3-8B17-4837-B77F-7F4124F75872}" destId="{62C9E0D5-FC55-4873-A116-B4AE0C1A9624}" srcOrd="1" destOrd="0" presId="urn:microsoft.com/office/officeart/2008/layout/HorizontalMultiLevelHierarchy"/>
    <dgm:cxn modelId="{3BE556E3-BCF9-4DE0-81DB-BA38023B8148}" type="presParOf" srcId="{E60DFF2C-A69B-4000-ABBC-0D368CEF6968}" destId="{56D17596-D38B-4966-8CEF-03ECF6D0C763}" srcOrd="2" destOrd="0" presId="urn:microsoft.com/office/officeart/2008/layout/HorizontalMultiLevelHierarchy"/>
    <dgm:cxn modelId="{6650BBA9-4E09-410F-BF84-01407244B2D2}" type="presParOf" srcId="{56D17596-D38B-4966-8CEF-03ECF6D0C763}" destId="{95D52AA9-0440-4FD6-9669-0CE501A6EB59}" srcOrd="0" destOrd="0" presId="urn:microsoft.com/office/officeart/2008/layout/HorizontalMultiLevelHierarchy"/>
    <dgm:cxn modelId="{2B5F41CB-7D3A-40D3-BF48-8993388D53AC}" type="presParOf" srcId="{E60DFF2C-A69B-4000-ABBC-0D368CEF6968}" destId="{D4AA4612-563C-4018-909A-A8E231EEED89}" srcOrd="3" destOrd="0" presId="urn:microsoft.com/office/officeart/2008/layout/HorizontalMultiLevelHierarchy"/>
    <dgm:cxn modelId="{7C2995CF-E4A3-4F65-9B09-7477E9F4731F}" type="presParOf" srcId="{D4AA4612-563C-4018-909A-A8E231EEED89}" destId="{C1C75D8C-CD47-42BB-8E6C-416BC10571DF}" srcOrd="0" destOrd="0" presId="urn:microsoft.com/office/officeart/2008/layout/HorizontalMultiLevelHierarchy"/>
    <dgm:cxn modelId="{52EEBB66-3B30-464B-A0D8-2E94201BE114}" type="presParOf" srcId="{D4AA4612-563C-4018-909A-A8E231EEED89}" destId="{B11486FF-F8D5-4E97-A246-36E5F454709D}" srcOrd="1" destOrd="0" presId="urn:microsoft.com/office/officeart/2008/layout/HorizontalMultiLevelHierarchy"/>
    <dgm:cxn modelId="{2AFD8B2D-A3CC-4304-A8D6-4E52D5074F7E}" type="presParOf" srcId="{E60DFF2C-A69B-4000-ABBC-0D368CEF6968}" destId="{62037B94-9938-4E11-B7A0-4831315EF2A9}" srcOrd="4" destOrd="0" presId="urn:microsoft.com/office/officeart/2008/layout/HorizontalMultiLevelHierarchy"/>
    <dgm:cxn modelId="{6C8BEAAC-8417-44DA-B3B3-198385A6A2AA}" type="presParOf" srcId="{62037B94-9938-4E11-B7A0-4831315EF2A9}" destId="{80D6763E-1B1F-4A66-993B-674440B9D4FE}" srcOrd="0" destOrd="0" presId="urn:microsoft.com/office/officeart/2008/layout/HorizontalMultiLevelHierarchy"/>
    <dgm:cxn modelId="{6AC7C230-A5AB-4781-810D-895974627046}" type="presParOf" srcId="{E60DFF2C-A69B-4000-ABBC-0D368CEF6968}" destId="{9DE148BB-7F73-4D5A-85DD-2C3F3120BE44}" srcOrd="5" destOrd="0" presId="urn:microsoft.com/office/officeart/2008/layout/HorizontalMultiLevelHierarchy"/>
    <dgm:cxn modelId="{42AB89BD-7511-4019-8A2D-D9A0F86E9878}" type="presParOf" srcId="{9DE148BB-7F73-4D5A-85DD-2C3F3120BE44}" destId="{9CE05DFA-0EFC-4665-86D1-448ECC71223D}" srcOrd="0" destOrd="0" presId="urn:microsoft.com/office/officeart/2008/layout/HorizontalMultiLevelHierarchy"/>
    <dgm:cxn modelId="{358B9788-161A-4C33-8454-A46AA4D19877}" type="presParOf" srcId="{9DE148BB-7F73-4D5A-85DD-2C3F3120BE44}" destId="{8E55021D-F828-450C-AA32-B93178046E4B}" srcOrd="1" destOrd="0" presId="urn:microsoft.com/office/officeart/2008/layout/HorizontalMultiLevelHierarchy"/>
    <dgm:cxn modelId="{16C22676-8150-4153-876F-B4F22D27B093}" type="presParOf" srcId="{E60DFF2C-A69B-4000-ABBC-0D368CEF6968}" destId="{E1D88C90-D57E-4B6D-A0BA-2A38D6E068E7}" srcOrd="6" destOrd="0" presId="urn:microsoft.com/office/officeart/2008/layout/HorizontalMultiLevelHierarchy"/>
    <dgm:cxn modelId="{31F9BEDB-AAF5-4A51-A497-4DAADF2F130D}" type="presParOf" srcId="{E1D88C90-D57E-4B6D-A0BA-2A38D6E068E7}" destId="{B8AFCB25-8B00-4EEA-BC59-6AA222AE41CD}" srcOrd="0" destOrd="0" presId="urn:microsoft.com/office/officeart/2008/layout/HorizontalMultiLevelHierarchy"/>
    <dgm:cxn modelId="{ED000846-2825-4AC9-B953-DC78476A4EC4}" type="presParOf" srcId="{E60DFF2C-A69B-4000-ABBC-0D368CEF6968}" destId="{05F987DB-B715-4869-B8FA-D460B7919D15}" srcOrd="7" destOrd="0" presId="urn:microsoft.com/office/officeart/2008/layout/HorizontalMultiLevelHierarchy"/>
    <dgm:cxn modelId="{A4DEDD95-1860-4D87-93C2-4F98A2FDFED0}" type="presParOf" srcId="{05F987DB-B715-4869-B8FA-D460B7919D15}" destId="{7F711313-A986-41D8-9B25-793104C29384}" srcOrd="0" destOrd="0" presId="urn:microsoft.com/office/officeart/2008/layout/HorizontalMultiLevelHierarchy"/>
    <dgm:cxn modelId="{5056A5C1-7DD1-4123-8E77-6FCEF29A0638}" type="presParOf" srcId="{05F987DB-B715-4869-B8FA-D460B7919D15}" destId="{FF1C133E-71C4-4EE7-B329-1D41A00C48F3}" srcOrd="1" destOrd="0" presId="urn:microsoft.com/office/officeart/2008/layout/HorizontalMultiLevelHierarchy"/>
    <dgm:cxn modelId="{E74B9E62-999A-4D1F-9A86-0FD34D10E76E}" type="presParOf" srcId="{FF1C133E-71C4-4EE7-B329-1D41A00C48F3}" destId="{193407C6-9846-4D71-AACA-5C2B1A212A27}" srcOrd="0" destOrd="0" presId="urn:microsoft.com/office/officeart/2008/layout/HorizontalMultiLevelHierarchy"/>
    <dgm:cxn modelId="{FEEE350E-08CE-4BE2-86A8-D57E06B00608}" type="presParOf" srcId="{193407C6-9846-4D71-AACA-5C2B1A212A27}" destId="{2D4B1483-29A5-4CFD-9B4A-37D3D5E29BE8}" srcOrd="0" destOrd="0" presId="urn:microsoft.com/office/officeart/2008/layout/HorizontalMultiLevelHierarchy"/>
    <dgm:cxn modelId="{DA67D9B5-E459-4BB3-85C3-04E0018E2A64}" type="presParOf" srcId="{FF1C133E-71C4-4EE7-B329-1D41A00C48F3}" destId="{167BC3E0-56F4-4FD3-BF56-C8585087F312}" srcOrd="1" destOrd="0" presId="urn:microsoft.com/office/officeart/2008/layout/HorizontalMultiLevelHierarchy"/>
    <dgm:cxn modelId="{57EF58F5-9A73-4B5F-BC55-995093A6F92C}" type="presParOf" srcId="{167BC3E0-56F4-4FD3-BF56-C8585087F312}" destId="{6AEA44A2-C708-4134-8AE7-17312B2EFF7C}" srcOrd="0" destOrd="0" presId="urn:microsoft.com/office/officeart/2008/layout/HorizontalMultiLevelHierarchy"/>
    <dgm:cxn modelId="{107462E4-2855-4AA3-AB91-1DD0FB98DCC0}" type="presParOf" srcId="{167BC3E0-56F4-4FD3-BF56-C8585087F312}" destId="{FD3EE277-024E-4892-8FEB-1B18CDD69707}" srcOrd="1" destOrd="0" presId="urn:microsoft.com/office/officeart/2008/layout/HorizontalMultiLevelHierarchy"/>
    <dgm:cxn modelId="{203DA640-10B3-4BA0-AD40-8E10189D1544}" type="presParOf" srcId="{FF1C133E-71C4-4EE7-B329-1D41A00C48F3}" destId="{45F4957D-80D3-47AA-B651-1EF767838729}" srcOrd="2" destOrd="0" presId="urn:microsoft.com/office/officeart/2008/layout/HorizontalMultiLevelHierarchy"/>
    <dgm:cxn modelId="{BF64C549-8397-498F-99C6-B7D55E0F2477}" type="presParOf" srcId="{45F4957D-80D3-47AA-B651-1EF767838729}" destId="{BA1C5D18-91CD-4128-8D8A-4F553B7EF02D}" srcOrd="0" destOrd="0" presId="urn:microsoft.com/office/officeart/2008/layout/HorizontalMultiLevelHierarchy"/>
    <dgm:cxn modelId="{2073DEF7-05D2-4812-B6F9-84ACB826375E}" type="presParOf" srcId="{FF1C133E-71C4-4EE7-B329-1D41A00C48F3}" destId="{C1F0C4F9-3E83-4854-9848-CF0D6C2EA0D5}" srcOrd="3" destOrd="0" presId="urn:microsoft.com/office/officeart/2008/layout/HorizontalMultiLevelHierarchy"/>
    <dgm:cxn modelId="{BEBC760A-4D36-4AD2-A7B2-2DD52E6C15B0}" type="presParOf" srcId="{C1F0C4F9-3E83-4854-9848-CF0D6C2EA0D5}" destId="{573C6833-D054-452B-A1B8-F0C15988D630}" srcOrd="0" destOrd="0" presId="urn:microsoft.com/office/officeart/2008/layout/HorizontalMultiLevelHierarchy"/>
    <dgm:cxn modelId="{4A52D651-803B-40DB-822C-67CFC74C6998}" type="presParOf" srcId="{C1F0C4F9-3E83-4854-9848-CF0D6C2EA0D5}" destId="{E78619B9-7476-4D8A-BA5E-C8B1DB497705}" srcOrd="1" destOrd="0" presId="urn:microsoft.com/office/officeart/2008/layout/HorizontalMultiLevelHierarchy"/>
    <dgm:cxn modelId="{0F526417-1E93-44EC-B848-11E1E25DFAF8}" type="presParOf" srcId="{E60DFF2C-A69B-4000-ABBC-0D368CEF6968}" destId="{B81FDD02-4468-4E13-9EB0-08A3E81D663E}" srcOrd="8" destOrd="0" presId="urn:microsoft.com/office/officeart/2008/layout/HorizontalMultiLevelHierarchy"/>
    <dgm:cxn modelId="{86CE25A7-AF58-4C38-BE4B-1C588333BCFF}" type="presParOf" srcId="{B81FDD02-4468-4E13-9EB0-08A3E81D663E}" destId="{FDEA60D1-DD16-4BE3-812C-555F0A452DBF}" srcOrd="0" destOrd="0" presId="urn:microsoft.com/office/officeart/2008/layout/HorizontalMultiLevelHierarchy"/>
    <dgm:cxn modelId="{57834C3F-60DB-4D4F-8F25-869C34C6AB40}" type="presParOf" srcId="{E60DFF2C-A69B-4000-ABBC-0D368CEF6968}" destId="{E80416EC-7FA6-42FB-8C84-6189028B2447}" srcOrd="9" destOrd="0" presId="urn:microsoft.com/office/officeart/2008/layout/HorizontalMultiLevelHierarchy"/>
    <dgm:cxn modelId="{A69BC0D3-9BB8-41FA-BCF4-767CFD9B0EE2}" type="presParOf" srcId="{E80416EC-7FA6-42FB-8C84-6189028B2447}" destId="{EAFF33E8-10AB-4383-BCAE-C9C9F25AC0B0}" srcOrd="0" destOrd="0" presId="urn:microsoft.com/office/officeart/2008/layout/HorizontalMultiLevelHierarchy"/>
    <dgm:cxn modelId="{1DCF46D5-0759-460D-BA30-98302B157753}" type="presParOf" srcId="{E80416EC-7FA6-42FB-8C84-6189028B2447}" destId="{87137952-FCCD-4B04-8475-25B15E21183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FDD02-4468-4E13-9EB0-08A3E81D663E}">
      <dsp:nvSpPr>
        <dsp:cNvPr id="0" name=""/>
        <dsp:cNvSpPr/>
      </dsp:nvSpPr>
      <dsp:spPr>
        <a:xfrm>
          <a:off x="1204615" y="2538265"/>
          <a:ext cx="554340" cy="2112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7170" y="0"/>
              </a:lnTo>
              <a:lnTo>
                <a:pt x="277170" y="2112578"/>
              </a:lnTo>
              <a:lnTo>
                <a:pt x="554340" y="21125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27183" y="3539952"/>
        <a:ext cx="109204" cy="109204"/>
      </dsp:txXfrm>
    </dsp:sp>
    <dsp:sp modelId="{45F4957D-80D3-47AA-B651-1EF767838729}">
      <dsp:nvSpPr>
        <dsp:cNvPr id="0" name=""/>
        <dsp:cNvSpPr/>
      </dsp:nvSpPr>
      <dsp:spPr>
        <a:xfrm>
          <a:off x="7874080" y="3594555"/>
          <a:ext cx="554340" cy="5281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7170" y="0"/>
              </a:lnTo>
              <a:lnTo>
                <a:pt x="277170" y="528144"/>
              </a:lnTo>
              <a:lnTo>
                <a:pt x="554340" y="5281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8132109" y="3839485"/>
        <a:ext cx="38282" cy="38282"/>
      </dsp:txXfrm>
    </dsp:sp>
    <dsp:sp modelId="{193407C6-9846-4D71-AACA-5C2B1A212A27}">
      <dsp:nvSpPr>
        <dsp:cNvPr id="0" name=""/>
        <dsp:cNvSpPr/>
      </dsp:nvSpPr>
      <dsp:spPr>
        <a:xfrm>
          <a:off x="7874080" y="3066410"/>
          <a:ext cx="554340" cy="528144"/>
        </a:xfrm>
        <a:custGeom>
          <a:avLst/>
          <a:gdLst/>
          <a:ahLst/>
          <a:cxnLst/>
          <a:rect l="0" t="0" r="0" b="0"/>
          <a:pathLst>
            <a:path>
              <a:moveTo>
                <a:pt x="0" y="528144"/>
              </a:moveTo>
              <a:lnTo>
                <a:pt x="277170" y="528144"/>
              </a:lnTo>
              <a:lnTo>
                <a:pt x="277170" y="0"/>
              </a:lnTo>
              <a:lnTo>
                <a:pt x="55434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8132109" y="3311341"/>
        <a:ext cx="38282" cy="38282"/>
      </dsp:txXfrm>
    </dsp:sp>
    <dsp:sp modelId="{E1D88C90-D57E-4B6D-A0BA-2A38D6E068E7}">
      <dsp:nvSpPr>
        <dsp:cNvPr id="0" name=""/>
        <dsp:cNvSpPr/>
      </dsp:nvSpPr>
      <dsp:spPr>
        <a:xfrm>
          <a:off x="1204615" y="2538265"/>
          <a:ext cx="554340" cy="10562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7170" y="0"/>
              </a:lnTo>
              <a:lnTo>
                <a:pt x="277170" y="1056289"/>
              </a:lnTo>
              <a:lnTo>
                <a:pt x="554340" y="10562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51963" y="3036587"/>
        <a:ext cx="59645" cy="59645"/>
      </dsp:txXfrm>
    </dsp:sp>
    <dsp:sp modelId="{62037B94-9938-4E11-B7A0-4831315EF2A9}">
      <dsp:nvSpPr>
        <dsp:cNvPr id="0" name=""/>
        <dsp:cNvSpPr/>
      </dsp:nvSpPr>
      <dsp:spPr>
        <a:xfrm>
          <a:off x="1204615" y="2492546"/>
          <a:ext cx="5543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434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67927" y="2524407"/>
        <a:ext cx="27717" cy="27717"/>
      </dsp:txXfrm>
    </dsp:sp>
    <dsp:sp modelId="{56D17596-D38B-4966-8CEF-03ECF6D0C763}">
      <dsp:nvSpPr>
        <dsp:cNvPr id="0" name=""/>
        <dsp:cNvSpPr/>
      </dsp:nvSpPr>
      <dsp:spPr>
        <a:xfrm>
          <a:off x="1204615" y="1481976"/>
          <a:ext cx="554340" cy="1056289"/>
        </a:xfrm>
        <a:custGeom>
          <a:avLst/>
          <a:gdLst/>
          <a:ahLst/>
          <a:cxnLst/>
          <a:rect l="0" t="0" r="0" b="0"/>
          <a:pathLst>
            <a:path>
              <a:moveTo>
                <a:pt x="0" y="1056289"/>
              </a:moveTo>
              <a:lnTo>
                <a:pt x="277170" y="1056289"/>
              </a:lnTo>
              <a:lnTo>
                <a:pt x="277170" y="0"/>
              </a:lnTo>
              <a:lnTo>
                <a:pt x="55434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51963" y="1980298"/>
        <a:ext cx="59645" cy="59645"/>
      </dsp:txXfrm>
    </dsp:sp>
    <dsp:sp modelId="{035BF5ED-7FA8-40A1-8568-1E98363EB354}">
      <dsp:nvSpPr>
        <dsp:cNvPr id="0" name=""/>
        <dsp:cNvSpPr/>
      </dsp:nvSpPr>
      <dsp:spPr>
        <a:xfrm>
          <a:off x="1204615" y="425687"/>
          <a:ext cx="554340" cy="2112578"/>
        </a:xfrm>
        <a:custGeom>
          <a:avLst/>
          <a:gdLst/>
          <a:ahLst/>
          <a:cxnLst/>
          <a:rect l="0" t="0" r="0" b="0"/>
          <a:pathLst>
            <a:path>
              <a:moveTo>
                <a:pt x="0" y="2112578"/>
              </a:moveTo>
              <a:lnTo>
                <a:pt x="277170" y="2112578"/>
              </a:lnTo>
              <a:lnTo>
                <a:pt x="277170" y="0"/>
              </a:lnTo>
              <a:lnTo>
                <a:pt x="55434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400" kern="1200"/>
        </a:p>
      </dsp:txBody>
      <dsp:txXfrm>
        <a:off x="1427183" y="1427374"/>
        <a:ext cx="109204" cy="109204"/>
      </dsp:txXfrm>
    </dsp:sp>
    <dsp:sp modelId="{4CB8E57E-6687-4803-914F-7F0A766CB800}">
      <dsp:nvSpPr>
        <dsp:cNvPr id="0" name=""/>
        <dsp:cNvSpPr/>
      </dsp:nvSpPr>
      <dsp:spPr>
        <a:xfrm rot="16200000">
          <a:off x="-1441666" y="2115750"/>
          <a:ext cx="4447533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ЭТАПЫ РАЗРАБОТКИ ПО</a:t>
          </a:r>
        </a:p>
      </dsp:txBody>
      <dsp:txXfrm>
        <a:off x="-1441666" y="2115750"/>
        <a:ext cx="4447533" cy="845031"/>
      </dsp:txXfrm>
    </dsp:sp>
    <dsp:sp modelId="{11BD3E5C-3FD9-40CF-85EF-61EE8D0D43CF}">
      <dsp:nvSpPr>
        <dsp:cNvPr id="0" name=""/>
        <dsp:cNvSpPr/>
      </dsp:nvSpPr>
      <dsp:spPr>
        <a:xfrm>
          <a:off x="1758956" y="3172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Анализ требований к системе и определение спецификаций (6 %)</a:t>
          </a:r>
          <a:endParaRPr lang="ru-RU" sz="2400" kern="1200" dirty="0"/>
        </a:p>
      </dsp:txBody>
      <dsp:txXfrm>
        <a:off x="1758956" y="3172"/>
        <a:ext cx="6115124" cy="845031"/>
      </dsp:txXfrm>
    </dsp:sp>
    <dsp:sp modelId="{C1C75D8C-CD47-42BB-8E6C-416BC10571DF}">
      <dsp:nvSpPr>
        <dsp:cNvPr id="0" name=""/>
        <dsp:cNvSpPr/>
      </dsp:nvSpPr>
      <dsp:spPr>
        <a:xfrm>
          <a:off x="1758956" y="1059461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Проектирование (5 %)</a:t>
          </a:r>
          <a:endParaRPr lang="ru-RU" sz="2400" kern="1200" dirty="0"/>
        </a:p>
      </dsp:txBody>
      <dsp:txXfrm>
        <a:off x="1758956" y="1059461"/>
        <a:ext cx="6115124" cy="845031"/>
      </dsp:txXfrm>
    </dsp:sp>
    <dsp:sp modelId="{9CE05DFA-0EFC-4665-86D1-448ECC71223D}">
      <dsp:nvSpPr>
        <dsp:cNvPr id="0" name=""/>
        <dsp:cNvSpPr/>
      </dsp:nvSpPr>
      <dsp:spPr>
        <a:xfrm>
          <a:off x="1758956" y="2115750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Кодирование (7 %)</a:t>
          </a:r>
          <a:endParaRPr lang="ru-RU" sz="2400" kern="1200" dirty="0"/>
        </a:p>
      </dsp:txBody>
      <dsp:txXfrm>
        <a:off x="1758956" y="2115750"/>
        <a:ext cx="6115124" cy="845031"/>
      </dsp:txXfrm>
    </dsp:sp>
    <dsp:sp modelId="{7F711313-A986-41D8-9B25-793104C29384}">
      <dsp:nvSpPr>
        <dsp:cNvPr id="0" name=""/>
        <dsp:cNvSpPr/>
      </dsp:nvSpPr>
      <dsp:spPr>
        <a:xfrm>
          <a:off x="1758956" y="3172039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Тестирование (15%)</a:t>
          </a:r>
          <a:endParaRPr lang="ru-RU" sz="2400" kern="1200" dirty="0"/>
        </a:p>
      </dsp:txBody>
      <dsp:txXfrm>
        <a:off x="1758956" y="3172039"/>
        <a:ext cx="6115124" cy="845031"/>
      </dsp:txXfrm>
    </dsp:sp>
    <dsp:sp modelId="{6AEA44A2-C708-4134-8AE7-17312B2EFF7C}">
      <dsp:nvSpPr>
        <dsp:cNvPr id="0" name=""/>
        <dsp:cNvSpPr/>
      </dsp:nvSpPr>
      <dsp:spPr>
        <a:xfrm>
          <a:off x="8428421" y="2643894"/>
          <a:ext cx="2771702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>
              <a:solidFill>
                <a:srgbClr val="F8F8F8"/>
              </a:solidFill>
            </a:rPr>
            <a:t>Автономное (8 %)</a:t>
          </a:r>
          <a:endParaRPr lang="ru-RU" sz="2400" kern="1200" dirty="0"/>
        </a:p>
      </dsp:txBody>
      <dsp:txXfrm>
        <a:off x="8428421" y="2643894"/>
        <a:ext cx="2771702" cy="845031"/>
      </dsp:txXfrm>
    </dsp:sp>
    <dsp:sp modelId="{573C6833-D054-452B-A1B8-F0C15988D630}">
      <dsp:nvSpPr>
        <dsp:cNvPr id="0" name=""/>
        <dsp:cNvSpPr/>
      </dsp:nvSpPr>
      <dsp:spPr>
        <a:xfrm>
          <a:off x="8428421" y="3700184"/>
          <a:ext cx="2771702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Комплексное (7 %)</a:t>
          </a:r>
          <a:endParaRPr lang="ru-RU" sz="2400" kern="1200" dirty="0"/>
        </a:p>
      </dsp:txBody>
      <dsp:txXfrm>
        <a:off x="8428421" y="3700184"/>
        <a:ext cx="2771702" cy="845031"/>
      </dsp:txXfrm>
    </dsp:sp>
    <dsp:sp modelId="{EAFF33E8-10AB-4383-BCAE-C9C9F25AC0B0}">
      <dsp:nvSpPr>
        <dsp:cNvPr id="0" name=""/>
        <dsp:cNvSpPr/>
      </dsp:nvSpPr>
      <dsp:spPr>
        <a:xfrm>
          <a:off x="1758956" y="4228328"/>
          <a:ext cx="6115124" cy="8450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altLang="ru-RU" sz="2400" b="1" kern="1200" dirty="0">
              <a:solidFill>
                <a:srgbClr val="F8F8F8"/>
              </a:solidFill>
            </a:rPr>
            <a:t>Эксплуатация и сопровождение (67 %)</a:t>
          </a:r>
          <a:endParaRPr lang="ru-RU" sz="2400" kern="1200" dirty="0"/>
        </a:p>
      </dsp:txBody>
      <dsp:txXfrm>
        <a:off x="1758956" y="4228328"/>
        <a:ext cx="6115124" cy="845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00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110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57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05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67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97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38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06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94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388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55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B13D1-DBE4-4856-B65A-009260834DA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8B3A2-8A7A-4553-8B5E-1DB306C1A3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026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7164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>
                    <a:lumMod val="75000"/>
                  </a:schemeClr>
                </a:solidFill>
              </a:rPr>
              <a:t>Для просмотра нажмите клавишу 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F5</a:t>
            </a:r>
            <a:endParaRPr lang="ru-RU" sz="3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24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2" t="13638" r="12024" b="12506"/>
          <a:stretch/>
        </p:blipFill>
        <p:spPr>
          <a:xfrm>
            <a:off x="2111829" y="563632"/>
            <a:ext cx="7968343" cy="4700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2651" y="5802923"/>
            <a:ext cx="59666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</a:rPr>
              <a:t>Первый вуз корпораций!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412275" y="5978637"/>
            <a:ext cx="487680" cy="4180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079350" y="5978637"/>
            <a:ext cx="487680" cy="4180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30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AMPEXT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450"/>
                            </p:stCondLst>
                            <p:childTnLst>
                              <p:par>
                                <p:cTn id="15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9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AMPEXT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0" y="5355771"/>
            <a:ext cx="12155148" cy="1502229"/>
          </a:xfrm>
          <a:prstGeom prst="rect">
            <a:avLst/>
          </a:prstGeom>
        </p:spPr>
      </p:pic>
      <p:pic>
        <p:nvPicPr>
          <p:cNvPr id="13" name="Picture 2" descr="http://i.ytimg.com/vi/eo8tYOG8WRE/maxresdefault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11"/>
          <a:stretch/>
        </p:blipFill>
        <p:spPr bwMode="auto">
          <a:xfrm rot="10800000">
            <a:off x="0" y="-762836"/>
            <a:ext cx="12192000" cy="249555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3521324" y="6395072"/>
            <a:ext cx="514935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ru-RU" sz="14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99FF"/>
                </a:solidFill>
                <a:effectLst/>
                <a:latin typeface="Arial" pitchFamily="34" charset="0"/>
                <a:cs typeface="Arial" pitchFamily="34" charset="0"/>
              </a:rPr>
              <a:t>Преподаватель: </a:t>
            </a:r>
            <a:r>
              <a:rPr lang="ru-RU" sz="1400" b="1" dirty="0" err="1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99FF"/>
                </a:solidFill>
                <a:effectLst/>
                <a:latin typeface="Arial" pitchFamily="34" charset="0"/>
                <a:cs typeface="Arial" pitchFamily="34" charset="0"/>
              </a:rPr>
              <a:t>к.п.н</a:t>
            </a:r>
            <a:r>
              <a:rPr lang="ru-RU" sz="14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99FF"/>
                </a:solidFill>
                <a:effectLst/>
                <a:latin typeface="Arial" pitchFamily="34" charset="0"/>
                <a:cs typeface="Arial" pitchFamily="34" charset="0"/>
              </a:rPr>
              <a:t>., доцент, Спирин Игорь Сергеевич</a:t>
            </a:r>
          </a:p>
        </p:txBody>
      </p:sp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51078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ОСНОВЫ СИСТЕМНОЙ ИНЖЕНЕРИИ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85" y="2388896"/>
            <a:ext cx="12000000" cy="400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549443" y="6252812"/>
            <a:ext cx="2746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studsworkfortsogu@mail.ru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sym typeface="Webdings" panose="05030102010509060703" pitchFamily="18" charset="2"/>
              </a:rPr>
              <a:t></a:t>
            </a: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sym typeface="Webdings" panose="05030102010509060703" pitchFamily="18" charset="2"/>
              </a:rPr>
              <a:t> </a:t>
            </a:r>
            <a:endParaRPr lang="ru-RU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190889" y="6390966"/>
            <a:ext cx="2323289" cy="346466"/>
            <a:chOff x="190889" y="6390966"/>
            <a:chExt cx="2323289" cy="346466"/>
          </a:xfrm>
        </p:grpSpPr>
        <p:pic>
          <p:nvPicPr>
            <p:cNvPr id="1026" name="Picture 2" descr="https://angidrit.ru/upload/information_system_4/5/9/1/item_591/item_591.png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889" y="6390966"/>
              <a:ext cx="346466" cy="346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/>
            <p:cNvSpPr/>
            <p:nvPr/>
          </p:nvSpPr>
          <p:spPr>
            <a:xfrm>
              <a:off x="537355" y="6410311"/>
              <a:ext cx="197682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2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https://vk.com/id19907146</a:t>
              </a:r>
            </a:p>
          </p:txBody>
        </p:sp>
      </p:grp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0" y="849429"/>
            <a:ext cx="1215514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Arial Black" pitchFamily="34" charset="0"/>
              </a:rPr>
              <a:t>ЛЕКЦИЯ </a:t>
            </a:r>
            <a:r>
              <a:rPr lang="ru-RU" sz="3200" b="1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Arial Black" pitchFamily="34" charset="0"/>
              </a:rPr>
              <a:t>№ 2</a:t>
            </a:r>
            <a:endParaRPr lang="ru-RU" sz="32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Arial Black" pitchFamily="34" charset="0"/>
            </a:endParaRPr>
          </a:p>
          <a:p>
            <a:pPr algn="ctr"/>
            <a:r>
              <a:rPr lang="ru-RU" sz="32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cs typeface="Arial" pitchFamily="34" charset="0"/>
              </a:rPr>
              <a:t>Тема: «Жизненный цикл программного продукта»</a:t>
            </a:r>
          </a:p>
        </p:txBody>
      </p:sp>
      <p:pic>
        <p:nvPicPr>
          <p:cNvPr id="2" name="Picture 2" descr="http://semia-automation.com/Archivos/Galeria%207.jp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" t="3551" r="1598" b="2329"/>
          <a:stretch/>
        </p:blipFill>
        <p:spPr bwMode="auto">
          <a:xfrm>
            <a:off x="7019939" y="1773171"/>
            <a:ext cx="4535060" cy="330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gigaom.com/wp-content/uploads/sites/1/2009/07/interfacebuilder.png?w=14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110" y="1968216"/>
            <a:ext cx="1605466" cy="16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4" t="13037" r="2908" b="20842"/>
          <a:stretch/>
        </p:blipFill>
        <p:spPr>
          <a:xfrm>
            <a:off x="121534" y="2587826"/>
            <a:ext cx="1721791" cy="99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https://avatars.mds.yandex.net/get-pdb/467038/b2dc3b9b-6a84-4c97-8700-9f47d376a4d1/s1200?webp=false"/>
          <p:cNvPicPr>
            <a:picLocks noChangeAspect="1" noChangeArrowheads="1"/>
          </p:cNvPicPr>
          <p:nvPr/>
        </p:nvPicPr>
        <p:blipFill rotWithShape="1"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9"/>
          <a:stretch/>
        </p:blipFill>
        <p:spPr bwMode="auto">
          <a:xfrm rot="2437836">
            <a:off x="1094020" y="2215387"/>
            <a:ext cx="1864417" cy="285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kolspb.ru/wp-content/uploads/2017/07/176x132-1024x921.jpg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86818">
            <a:off x="1561635" y="2003096"/>
            <a:ext cx="3361538" cy="302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4.bp.blogspot.com/-cekCkbKagqA/WLflwsqfv-I/AAAAAAAAAEA/5ZhaKSqiSaIE3HhlVOTkoDarY-WrqKSCACLcB/w1200-h630-p-k-no-nu/development.jpg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985" y="1967798"/>
            <a:ext cx="6515239" cy="342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26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6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6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buntu_touch_supr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75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2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75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2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75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750"/>
                            </p:stCondLst>
                            <p:childTnLst>
                              <p:par>
                                <p:cTn id="66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8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500" autoRev="1" fill="remove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allAtOnce"/>
      <p:bldP spid="50" grpId="1" build="allAtOnce"/>
      <p:bldP spid="48" grpId="0"/>
      <p:bldP spid="3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Этапы разработки программного обеспеченья</a:t>
            </a:r>
          </a:p>
        </p:txBody>
      </p:sp>
      <p:graphicFrame>
        <p:nvGraphicFramePr>
          <p:cNvPr id="9" name="Схема 8"/>
          <p:cNvGraphicFramePr/>
          <p:nvPr/>
        </p:nvGraphicFramePr>
        <p:xfrm>
          <a:off x="287151" y="1619480"/>
          <a:ext cx="11559708" cy="5076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3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Технологический подход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Конкретная технология (технологический подход) содержит в себе определённый набор процессов, а также используемых в них знаний, методов и средств.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узком смысле технология представляет собой определённый технологический подход.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 опираются на понятие </a:t>
            </a:r>
            <a:r>
              <a:rPr lang="ru-RU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жизненного цикла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1006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Жизненный цикл программного обеспечения (</a:t>
            </a:r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ЖЦ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ПО)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ЖИЗНЕНЫЙ ЦИКЛ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ПО </a:t>
            </a:r>
            <a:r>
              <a:rPr lang="ru-RU" sz="2400" dirty="0"/>
              <a:t>– весь период его разработки и эксплуатации, начиная с момента возникновения замысла (идеи) и заканчивая прекращением всех видов его использования.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В общем случае </a:t>
            </a:r>
            <a:r>
              <a:rPr lang="ru-RU" sz="2400" dirty="0" err="1"/>
              <a:t>ЖЦ</a:t>
            </a:r>
            <a:r>
              <a:rPr lang="ru-RU" sz="2400" dirty="0"/>
              <a:t> определяется </a:t>
            </a:r>
            <a:r>
              <a:rPr lang="ru-RU" sz="2400" i="1" dirty="0"/>
              <a:t>моделью</a:t>
            </a:r>
            <a:r>
              <a:rPr lang="ru-RU" sz="2400" dirty="0"/>
              <a:t> и описывается в форме технологии разработки – </a:t>
            </a:r>
            <a:r>
              <a:rPr lang="ru-RU" sz="2400" b="1" i="1" dirty="0"/>
              <a:t>технологического подхода</a:t>
            </a:r>
            <a:r>
              <a:rPr lang="ru-RU" sz="240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Модель </a:t>
            </a:r>
            <a:r>
              <a:rPr lang="ru-RU" sz="2400" b="1" i="1" dirty="0" err="1">
                <a:solidFill>
                  <a:srgbClr val="FF0000"/>
                </a:solidFill>
              </a:rPr>
              <a:t>ЖЦ</a:t>
            </a:r>
            <a:r>
              <a:rPr lang="ru-RU" sz="2400" b="1" i="1" dirty="0">
                <a:solidFill>
                  <a:srgbClr val="FF0000"/>
                </a:solidFill>
              </a:rPr>
              <a:t> </a:t>
            </a:r>
            <a:r>
              <a:rPr lang="ru-RU" sz="2400" i="1" dirty="0">
                <a:solidFill>
                  <a:srgbClr val="FF0000"/>
                </a:solidFill>
              </a:rPr>
              <a:t>– структура, определяющая последовательность выполнения процессов и их взаимосвязь на протяжении </a:t>
            </a:r>
            <a:r>
              <a:rPr lang="ru-RU" sz="2400" i="1" dirty="0" err="1">
                <a:solidFill>
                  <a:srgbClr val="FF0000"/>
                </a:solidFill>
              </a:rPr>
              <a:t>ЖЦ</a:t>
            </a:r>
            <a:r>
              <a:rPr lang="ru-RU" sz="2400" i="1" dirty="0">
                <a:solidFill>
                  <a:srgbClr val="FF0000"/>
                </a:solidFill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Упоминание </a:t>
            </a:r>
            <a:r>
              <a:rPr lang="ru-RU" sz="2400" dirty="0" err="1"/>
              <a:t>ЖЦ</a:t>
            </a:r>
            <a:r>
              <a:rPr lang="ru-RU" sz="2400" dirty="0"/>
              <a:t> обычно подразумевает указание конкретной модели </a:t>
            </a:r>
            <a:r>
              <a:rPr lang="ru-RU" sz="2400" dirty="0" err="1"/>
              <a:t>ЖЦ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23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Технология разработки ПО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6" y="1765453"/>
            <a:ext cx="11925759" cy="49989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Технология разработки ПО (технологический подход) </a:t>
            </a:r>
            <a:r>
              <a:rPr lang="ru-RU" sz="2400" i="1" dirty="0">
                <a:solidFill>
                  <a:srgbClr val="FF0000"/>
                </a:solidFill>
              </a:rPr>
              <a:t>– это определённая совокупность процессов, включающих их детальное содержание и распределение по стадиям, а также ролевую ответственность участников проекта на всех стадиях выбранной модели </a:t>
            </a:r>
            <a:r>
              <a:rPr lang="ru-RU" sz="2400" i="1" dirty="0" err="1">
                <a:solidFill>
                  <a:srgbClr val="FF0000"/>
                </a:solidFill>
              </a:rPr>
              <a:t>ЖЦ</a:t>
            </a:r>
            <a:r>
              <a:rPr lang="ru-RU" sz="2400" i="1" dirty="0">
                <a:solidFill>
                  <a:srgbClr val="FF0000"/>
                </a:solidFill>
              </a:rPr>
              <a:t> ПО.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Технология часто определяет и саму модель. </a:t>
            </a:r>
            <a:r>
              <a:rPr lang="ru-RU" sz="2400" dirty="0"/>
              <a:t>Обычно она основывается на методиках выбранной методологии, а также рекомендует практики, что позволяет максимально эффективно воспользоваться этой технологией и её моделью ЖЦ.</a:t>
            </a:r>
          </a:p>
        </p:txBody>
      </p:sp>
    </p:spTree>
    <p:extLst>
      <p:ext uri="{BB962C8B-B14F-4D97-AF65-F5344CB8AC3E}">
        <p14:creationId xmlns:p14="http://schemas.microsoft.com/office/powerpoint/2010/main" val="219327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Технология разработки ПО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6" y="1765453"/>
            <a:ext cx="11925759" cy="49989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Технологию удобно характеризовать в двух измерениях: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 </a:t>
            </a:r>
            <a:r>
              <a:rPr lang="ru-RU" sz="2400" b="1" i="1" dirty="0">
                <a:solidFill>
                  <a:srgbClr val="002060"/>
                </a:solidFill>
              </a:rPr>
              <a:t>вертикальном (процессы)</a:t>
            </a:r>
            <a:r>
              <a:rPr lang="ru-RU" sz="2400" dirty="0"/>
              <a:t> и </a:t>
            </a:r>
            <a:r>
              <a:rPr lang="ru-RU" sz="2400" b="1" i="1" dirty="0">
                <a:solidFill>
                  <a:srgbClr val="002060"/>
                </a:solidFill>
              </a:rPr>
              <a:t>горизонтальном (стадии).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19E44E-1791-4B90-A12C-62FBDCEA6D7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1909" y="2979128"/>
            <a:ext cx="7924800" cy="378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Действие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958810" cy="49989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Связующим понятием между процессами и стадиями является «</a:t>
            </a:r>
            <a:r>
              <a:rPr lang="ru-RU" sz="2400" b="1" dirty="0"/>
              <a:t>действие</a:t>
            </a:r>
            <a:r>
              <a:rPr lang="ru-RU" sz="2400" dirty="0"/>
              <a:t>».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Действие (тж. работа, вид деятельности) </a:t>
            </a:r>
            <a:r>
              <a:rPr lang="ru-RU" sz="2400" i="1" dirty="0">
                <a:solidFill>
                  <a:srgbClr val="FF0000"/>
                </a:solidFill>
              </a:rPr>
              <a:t>– часть деятельности по проекту, выполняемая отдельным исполнителем или группой исполнителей.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Фактически процессы и стадии представляют собой определённые наборы действий: </a:t>
            </a:r>
            <a:r>
              <a:rPr lang="ru-RU" sz="2400" b="1" i="1" dirty="0">
                <a:solidFill>
                  <a:srgbClr val="002060"/>
                </a:solidFill>
              </a:rPr>
              <a:t>по признаку преобразования данных действия объединяются в процессы, а повременному признаку и/или получаемому результату – в стадии.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0077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Процесс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2"/>
            <a:ext cx="11697948" cy="509254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Процесс</a:t>
            </a:r>
            <a:r>
              <a:rPr lang="ru-RU" sz="2400" i="1" dirty="0">
                <a:solidFill>
                  <a:srgbClr val="FF0000"/>
                </a:solidFill>
              </a:rPr>
              <a:t> – совокупность взаимосвязанных действий проекта, преобразующих некоторые входные данные в выходные.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Взаимосвязь действий заключается в их последовательности, завершённой с точки зрения содержания, временной и логической очерёдности.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Процессы состоят из набора действий, а каждое действие – из набора задач. Дальнейшая детализация приводит к рассмотрению отдельных операций.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/>
              <a:t>Задача</a:t>
            </a:r>
            <a:r>
              <a:rPr lang="ru-RU" sz="2400" b="1" dirty="0"/>
              <a:t> (тж. задание) </a:t>
            </a:r>
            <a:r>
              <a:rPr lang="ru-RU" sz="2400" dirty="0"/>
              <a:t>– планируемый элемент действия: задача определяется/ в плане проекта и её могут быть назначены ресурсы для выполнения.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Таким образом, иерархия понятий, связанных с процессом, выглядит следующим образом:</a:t>
            </a:r>
          </a:p>
          <a:p>
            <a:pPr algn="ctr">
              <a:lnSpc>
                <a:spcPct val="150000"/>
              </a:lnSpc>
              <a:buNone/>
            </a:pPr>
            <a:r>
              <a:rPr lang="ru-RU" sz="2400" dirty="0"/>
              <a:t> </a:t>
            </a:r>
            <a:r>
              <a:rPr lang="ru-RU" sz="2400" b="1" i="1" dirty="0">
                <a:solidFill>
                  <a:srgbClr val="FF0000"/>
                </a:solidFill>
              </a:rPr>
              <a:t>Процессы </a:t>
            </a:r>
            <a:r>
              <a:rPr lang="ru-RU" sz="2400" b="1" i="1" dirty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2400" b="1" i="1" dirty="0">
                <a:solidFill>
                  <a:srgbClr val="FF0000"/>
                </a:solidFill>
              </a:rPr>
              <a:t> Действия </a:t>
            </a:r>
            <a:r>
              <a:rPr lang="ru-RU" sz="2400" b="1" i="1" dirty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2400" b="1" i="1" dirty="0">
                <a:solidFill>
                  <a:srgbClr val="FF0000"/>
                </a:solidFill>
              </a:rPr>
              <a:t> Задачи </a:t>
            </a:r>
            <a:r>
              <a:rPr lang="ru-RU" sz="2400" b="1" i="1" dirty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2400" b="1" i="1" dirty="0">
                <a:solidFill>
                  <a:srgbClr val="FF0000"/>
                </a:solidFill>
              </a:rPr>
              <a:t> Операции.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1609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Дисциплина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837624" cy="49548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 некоторых подходах вместо понятия «процесс» используют понятие «дисциплина».</a:t>
            </a:r>
          </a:p>
          <a:p>
            <a:pPr marL="0" indent="0">
              <a:buNone/>
            </a:pPr>
            <a:r>
              <a:rPr lang="ru-RU" sz="2400" dirty="0"/>
              <a:t> </a:t>
            </a:r>
            <a:r>
              <a:rPr lang="ru-RU" sz="2400" b="1" i="1" dirty="0">
                <a:solidFill>
                  <a:srgbClr val="FF0000"/>
                </a:solidFill>
              </a:rPr>
              <a:t>Дисциплина</a:t>
            </a:r>
            <a:r>
              <a:rPr lang="ru-RU" sz="2400" i="1" dirty="0">
                <a:solidFill>
                  <a:srgbClr val="FF0000"/>
                </a:solidFill>
              </a:rPr>
              <a:t> – процесс, рассматриваемый вместе с соответствующими ему артефактами и ролями.</a:t>
            </a:r>
          </a:p>
          <a:p>
            <a:pPr marL="0" indent="0">
              <a:buNone/>
            </a:pPr>
            <a:r>
              <a:rPr lang="ru-RU" sz="2400" dirty="0"/>
              <a:t> </a:t>
            </a:r>
            <a:r>
              <a:rPr lang="ru-RU" sz="2400" b="1" i="1" dirty="0">
                <a:solidFill>
                  <a:srgbClr val="002060"/>
                </a:solidFill>
              </a:rPr>
              <a:t>С точки зрения управления дисциплина представляет собой поток работ (букв. рабочий поток), связанный с рабочим продуктом – артефактом, производимым участником в некоторой заданной роли.</a:t>
            </a:r>
          </a:p>
          <a:p>
            <a:pPr marL="0" indent="0">
              <a:buNone/>
            </a:pPr>
            <a:r>
              <a:rPr lang="ru-RU" sz="2400" dirty="0"/>
              <a:t>Кроме того, в ряде работ вводится также понятие «процедура».</a:t>
            </a:r>
          </a:p>
          <a:p>
            <a:pPr marL="0" indent="0">
              <a:buNone/>
            </a:pPr>
            <a:r>
              <a:rPr lang="ru-RU" sz="2400" dirty="0"/>
              <a:t> </a:t>
            </a:r>
            <a:r>
              <a:rPr lang="ru-RU" sz="2400" b="1" i="1" dirty="0">
                <a:solidFill>
                  <a:srgbClr val="FF0000"/>
                </a:solidFill>
              </a:rPr>
              <a:t>Процедура</a:t>
            </a:r>
            <a:r>
              <a:rPr lang="ru-RU" sz="2400" i="1" dirty="0">
                <a:solidFill>
                  <a:srgbClr val="FF0000"/>
                </a:solidFill>
              </a:rPr>
              <a:t> – пошаговое описание направления задач для выполнения и завершения конкретного действия.</a:t>
            </a:r>
          </a:p>
          <a:p>
            <a:pPr marL="0" indent="0">
              <a:buNone/>
            </a:pPr>
            <a:r>
              <a:rPr lang="ru-RU" sz="2400" dirty="0"/>
              <a:t>В этом случае </a:t>
            </a:r>
            <a:r>
              <a:rPr lang="ru-RU" sz="2400" b="1" dirty="0">
                <a:solidFill>
                  <a:srgbClr val="002060"/>
                </a:solidFill>
              </a:rPr>
              <a:t>описание процесса представляет собой документированное определение действий, формализованных в виде процедур</a:t>
            </a:r>
          </a:p>
        </p:txBody>
      </p:sp>
    </p:spTree>
    <p:extLst>
      <p:ext uri="{BB962C8B-B14F-4D97-AF65-F5344CB8AC3E}">
        <p14:creationId xmlns:p14="http://schemas.microsoft.com/office/powerpoint/2010/main" val="245827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Стадия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6" y="1765453"/>
            <a:ext cx="11870675" cy="49768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Стадия</a:t>
            </a:r>
            <a:r>
              <a:rPr lang="ru-RU" sz="2400" i="1" dirty="0">
                <a:solidFill>
                  <a:srgbClr val="FF0000"/>
                </a:solidFill>
              </a:rPr>
              <a:t> – группа действий проекта, ограниченная некоторыми временными рамками и часто заканчивающаяся выпуском произведённого результата, определяемого заданными требованиями.</a:t>
            </a:r>
          </a:p>
          <a:p>
            <a:pPr marL="0" indent="0">
              <a:buNone/>
            </a:pPr>
            <a:r>
              <a:rPr lang="ru-RU" sz="2400" b="1" dirty="0">
                <a:solidFill>
                  <a:srgbClr val="002060"/>
                </a:solidFill>
              </a:rPr>
              <a:t>Стадии выделяются исходя из соображений разумного и рационального управления проектом. </a:t>
            </a:r>
          </a:p>
          <a:p>
            <a:pPr marL="0" indent="0">
              <a:buNone/>
            </a:pPr>
            <a:r>
              <a:rPr lang="ru-RU" sz="2400" i="1" dirty="0"/>
              <a:t>Стадии часто состоят из этапов (тж. шаг), которые обычно имеют итерационный характер и поэтому представляются в виде итераций. </a:t>
            </a:r>
          </a:p>
          <a:p>
            <a:pPr marL="0" indent="0">
              <a:buNone/>
            </a:pPr>
            <a:r>
              <a:rPr lang="ru-RU" sz="2400" dirty="0"/>
              <a:t>В ряде подходов </a:t>
            </a:r>
            <a:r>
              <a:rPr lang="ru-RU" sz="2400" b="1" i="1" dirty="0">
                <a:solidFill>
                  <a:srgbClr val="002060"/>
                </a:solidFill>
              </a:rPr>
              <a:t>стадии объединяют в более крупные временные рамки – фазы</a:t>
            </a:r>
            <a:r>
              <a:rPr lang="ru-RU" sz="2400" dirty="0"/>
              <a:t>, в этом случае сами стадии имеют итерационный характер.</a:t>
            </a:r>
          </a:p>
          <a:p>
            <a:pPr marL="0" indent="0">
              <a:buNone/>
            </a:pPr>
            <a:r>
              <a:rPr lang="ru-RU" sz="2400" dirty="0"/>
              <a:t>Таким образом, иерархия понятий, связанных со стадией, выглядит следующим образом: </a:t>
            </a:r>
          </a:p>
          <a:p>
            <a:pPr marL="0" indent="0" algn="ctr">
              <a:buNone/>
            </a:pPr>
            <a:r>
              <a:rPr lang="ru-RU" sz="2400" b="1" dirty="0">
                <a:solidFill>
                  <a:srgbClr val="FF0000"/>
                </a:solidFill>
              </a:rPr>
              <a:t>Фазы </a:t>
            </a:r>
            <a:r>
              <a:rPr lang="ru-RU" sz="2400" b="1" dirty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2400" b="1" dirty="0">
                <a:solidFill>
                  <a:srgbClr val="FF0000"/>
                </a:solidFill>
              </a:rPr>
              <a:t> Стадии </a:t>
            </a:r>
            <a:r>
              <a:rPr lang="ru-RU" sz="2400" b="1" dirty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2400" b="1" dirty="0">
                <a:solidFill>
                  <a:srgbClr val="FF0000"/>
                </a:solidFill>
              </a:rPr>
              <a:t> Этапы.</a:t>
            </a:r>
          </a:p>
        </p:txBody>
      </p:sp>
    </p:spTree>
    <p:extLst>
      <p:ext uri="{BB962C8B-B14F-4D97-AF65-F5344CB8AC3E}">
        <p14:creationId xmlns:p14="http://schemas.microsoft.com/office/powerpoint/2010/main" val="347102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Стадия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Получаем следующее описание измерений технологии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solidFill>
                  <a:srgbClr val="002060"/>
                </a:solidFill>
              </a:rPr>
              <a:t>Вертикальное измерение отражает статические аспекты процессов </a:t>
            </a:r>
            <a:r>
              <a:rPr lang="ru-RU" sz="2400" dirty="0"/>
              <a:t>и оперирует такими понятиями, как </a:t>
            </a:r>
            <a:r>
              <a:rPr lang="ru-RU" sz="2400" i="1" dirty="0">
                <a:solidFill>
                  <a:srgbClr val="FF0000"/>
                </a:solidFill>
              </a:rPr>
              <a:t>процессы, действия, задачи и операции</a:t>
            </a:r>
            <a:r>
              <a:rPr lang="ru-RU" sz="240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b="1" dirty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solidFill>
                  <a:srgbClr val="002060"/>
                </a:solidFill>
              </a:rPr>
              <a:t>Горизонтальное измерение представляет время, отражает динамические аспекты процессов </a:t>
            </a:r>
            <a:r>
              <a:rPr lang="ru-RU" sz="2400" dirty="0"/>
              <a:t>и оперирует такими понятиями, как </a:t>
            </a:r>
            <a:r>
              <a:rPr lang="ru-RU" sz="2400" i="1" dirty="0">
                <a:solidFill>
                  <a:srgbClr val="FF0000"/>
                </a:solidFill>
              </a:rPr>
              <a:t>фазы, стадии и этапы.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3906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Стадия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5653A9-2ECA-44A2-AD5A-0C3138B20E7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8173" y="1502229"/>
            <a:ext cx="8966443" cy="428276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28F7A6B-59CA-4DDE-85BF-EE57444F88C7}"/>
              </a:ext>
            </a:extLst>
          </p:cNvPr>
          <p:cNvSpPr/>
          <p:nvPr/>
        </p:nvSpPr>
        <p:spPr>
          <a:xfrm>
            <a:off x="1134199" y="1620140"/>
            <a:ext cx="139698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процессы</a:t>
            </a:r>
            <a:r>
              <a:rPr lang="ru-RU" i="1" dirty="0">
                <a:solidFill>
                  <a:srgbClr val="FF0000"/>
                </a:solidFill>
              </a:rPr>
              <a:t> </a:t>
            </a:r>
          </a:p>
          <a:p>
            <a:r>
              <a:rPr lang="ru-RU" i="1" dirty="0">
                <a:solidFill>
                  <a:srgbClr val="FF0000"/>
                </a:solidFill>
              </a:rPr>
              <a:t>действия </a:t>
            </a:r>
          </a:p>
          <a:p>
            <a:r>
              <a:rPr lang="ru-RU" i="1" dirty="0">
                <a:solidFill>
                  <a:srgbClr val="FF0000"/>
                </a:solidFill>
              </a:rPr>
              <a:t>задачи </a:t>
            </a:r>
          </a:p>
          <a:p>
            <a:r>
              <a:rPr lang="ru-RU" i="1" dirty="0">
                <a:solidFill>
                  <a:srgbClr val="FF0000"/>
                </a:solidFill>
              </a:rPr>
              <a:t>операции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ACD8FB-6607-4B48-B77F-2124193C2F7B}"/>
              </a:ext>
            </a:extLst>
          </p:cNvPr>
          <p:cNvSpPr/>
          <p:nvPr/>
        </p:nvSpPr>
        <p:spPr>
          <a:xfrm>
            <a:off x="5606207" y="5784992"/>
            <a:ext cx="2770374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i="1" dirty="0">
                <a:solidFill>
                  <a:srgbClr val="FF0000"/>
                </a:solidFill>
              </a:rPr>
              <a:t>фазы, стадии и этапы.</a:t>
            </a:r>
          </a:p>
        </p:txBody>
      </p:sp>
    </p:spTree>
    <p:extLst>
      <p:ext uri="{BB962C8B-B14F-4D97-AF65-F5344CB8AC3E}">
        <p14:creationId xmlns:p14="http://schemas.microsoft.com/office/powerpoint/2010/main" val="115612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Методика и практика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8029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Методика (букв. техника) </a:t>
            </a:r>
            <a:r>
              <a:rPr lang="ru-RU" sz="2400" i="1" dirty="0">
                <a:solidFill>
                  <a:srgbClr val="002060"/>
                </a:solidFill>
              </a:rPr>
              <a:t>– совокупность конкретизированных методов разработки в рамках заданной методологии, применяемая в одном или нескольких соответствующих этой совокупности процессах </a:t>
            </a:r>
            <a:r>
              <a:rPr lang="ru-RU" sz="2400" i="1" dirty="0" err="1">
                <a:solidFill>
                  <a:srgbClr val="002060"/>
                </a:solidFill>
              </a:rPr>
              <a:t>ЖЦ</a:t>
            </a:r>
            <a:r>
              <a:rPr lang="ru-RU" sz="2400" i="1" dirty="0">
                <a:solidFill>
                  <a:srgbClr val="002060"/>
                </a:solidFill>
              </a:rPr>
              <a:t>. </a:t>
            </a:r>
          </a:p>
          <a:p>
            <a:pPr marL="0" indent="0">
              <a:buNone/>
            </a:pPr>
            <a:endParaRPr lang="ru-RU" sz="2400" i="1" dirty="0"/>
          </a:p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Практика</a:t>
            </a:r>
            <a:r>
              <a:rPr lang="ru-RU" sz="2400" i="1" dirty="0">
                <a:solidFill>
                  <a:srgbClr val="002060"/>
                </a:solidFill>
              </a:rPr>
              <a:t> – это определённая рекомендация по выполнению действий, для которых результаты проверяемы, но не передаваемы как материал для работы других процессов. </a:t>
            </a:r>
          </a:p>
          <a:p>
            <a:pPr marL="0" indent="0">
              <a:buNone/>
            </a:pPr>
            <a:endParaRPr lang="ru-RU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400" dirty="0"/>
              <a:t>Таким образом, </a:t>
            </a:r>
            <a:r>
              <a:rPr lang="ru-RU" sz="2400" b="1" i="1" dirty="0">
                <a:solidFill>
                  <a:srgbClr val="002060"/>
                </a:solidFill>
              </a:rPr>
              <a:t>технология определяется спецификой комбинации процессов и стадий, ориентированной на разные классы ПО и особенности участников проекта и дополненной методиками и практиками.</a:t>
            </a:r>
          </a:p>
        </p:txBody>
      </p:sp>
    </p:spTree>
    <p:extLst>
      <p:ext uri="{BB962C8B-B14F-4D97-AF65-F5344CB8AC3E}">
        <p14:creationId xmlns:p14="http://schemas.microsoft.com/office/powerpoint/2010/main" val="388137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Стадия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5653A9-2ECA-44A2-AD5A-0C3138B20E7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8173" y="1502229"/>
            <a:ext cx="8966443" cy="428276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28F7A6B-59CA-4DDE-85BF-EE57444F88C7}"/>
              </a:ext>
            </a:extLst>
          </p:cNvPr>
          <p:cNvSpPr/>
          <p:nvPr/>
        </p:nvSpPr>
        <p:spPr>
          <a:xfrm>
            <a:off x="484204" y="1536481"/>
            <a:ext cx="180055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FF0000"/>
                </a:solidFill>
              </a:rPr>
              <a:t>процессы</a:t>
            </a:r>
            <a:r>
              <a:rPr lang="ru-RU" sz="2400" i="1" dirty="0">
                <a:solidFill>
                  <a:srgbClr val="FF0000"/>
                </a:solidFill>
              </a:rPr>
              <a:t> 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действия 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задачи 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операции</a:t>
            </a:r>
            <a:endParaRPr lang="ru-RU" sz="2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ACD8FB-6607-4B48-B77F-2124193C2F7B}"/>
              </a:ext>
            </a:extLst>
          </p:cNvPr>
          <p:cNvSpPr/>
          <p:nvPr/>
        </p:nvSpPr>
        <p:spPr>
          <a:xfrm>
            <a:off x="4879094" y="5817960"/>
            <a:ext cx="3630033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1" dirty="0">
                <a:solidFill>
                  <a:srgbClr val="FF0000"/>
                </a:solidFill>
              </a:rPr>
              <a:t>фазы, стадии и этапы.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8FC375-E029-4D1D-A285-4FA9562FE8BF}"/>
              </a:ext>
            </a:extLst>
          </p:cNvPr>
          <p:cNvSpPr/>
          <p:nvPr/>
        </p:nvSpPr>
        <p:spPr>
          <a:xfrm>
            <a:off x="5795570" y="2816234"/>
            <a:ext cx="21696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002060"/>
                </a:solidFill>
              </a:rPr>
              <a:t>Методика</a:t>
            </a:r>
          </a:p>
          <a:p>
            <a:r>
              <a:rPr lang="ru-RU" sz="2400" b="1" i="1" dirty="0">
                <a:solidFill>
                  <a:srgbClr val="002060"/>
                </a:solidFill>
              </a:rPr>
              <a:t>Практика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0823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Управление</a:t>
            </a:r>
            <a:r>
              <a:rPr lang="ru-RU" sz="2800" b="1" i="1" dirty="0">
                <a:solidFill>
                  <a:srgbClr val="002060"/>
                </a:solidFill>
              </a:rPr>
              <a:t> 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разработкой</a:t>
            </a:r>
            <a:r>
              <a:rPr lang="ru-RU" sz="2800" b="1" i="1" dirty="0">
                <a:solidFill>
                  <a:srgbClr val="002060"/>
                </a:solidFill>
              </a:rPr>
              <a:t> </a:t>
            </a:r>
            <a:endParaRPr lang="ru-RU" sz="2800" b="1" dirty="0">
              <a:gradFill>
                <a:gsLst>
                  <a:gs pos="0">
                    <a:srgbClr val="009900"/>
                  </a:gs>
                  <a:gs pos="50000">
                    <a:srgbClr val="92D050"/>
                  </a:gs>
                  <a:gs pos="100000">
                    <a:srgbClr val="009900"/>
                  </a:gs>
                </a:gsLst>
                <a:lin ang="5400000" scaled="1"/>
              </a:gradFill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509254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Управление разработкой заключается в организации проекта с учётом заданных ограничений.</a:t>
            </a:r>
          </a:p>
          <a:p>
            <a:pPr marL="0" indent="0">
              <a:buNone/>
            </a:pPr>
            <a:r>
              <a:rPr lang="ru-RU" sz="2400" dirty="0"/>
              <a:t>Система ограничений определяется совокупностью приоритетов и должна учитывать требования заинтересованных лиц.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К основным ограничениям относят:</a:t>
            </a:r>
          </a:p>
          <a:p>
            <a:pPr marL="0" indent="0"/>
            <a:r>
              <a:rPr lang="ru-RU" sz="2400" dirty="0"/>
              <a:t> содержание (проекта),</a:t>
            </a:r>
          </a:p>
          <a:p>
            <a:pPr marL="0" indent="0"/>
            <a:r>
              <a:rPr lang="ru-RU" sz="2400" dirty="0"/>
              <a:t> время (выполнения),</a:t>
            </a:r>
          </a:p>
          <a:p>
            <a:pPr marL="0" indent="0"/>
            <a:r>
              <a:rPr lang="ru-RU" sz="2400" dirty="0"/>
              <a:t> стоимость (проекта).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Следует отметить и следующие ограничения: </a:t>
            </a:r>
          </a:p>
          <a:p>
            <a:pPr marL="0" indent="0"/>
            <a:r>
              <a:rPr lang="ru-RU" sz="2400" dirty="0"/>
              <a:t>ресурсы (людские и финансовые), </a:t>
            </a:r>
          </a:p>
          <a:p>
            <a:pPr marL="0" indent="0"/>
            <a:r>
              <a:rPr lang="ru-RU" sz="2400" dirty="0"/>
              <a:t>качество (приемлемое для проекта),</a:t>
            </a:r>
          </a:p>
          <a:p>
            <a:pPr marL="0" indent="0"/>
            <a:r>
              <a:rPr lang="ru-RU" sz="2400" dirty="0"/>
              <a:t> эффективность (проекта). </a:t>
            </a:r>
          </a:p>
          <a:p>
            <a:pPr marL="0" indent="0">
              <a:buNone/>
            </a:pPr>
            <a:r>
              <a:rPr lang="ru-RU" sz="2400" dirty="0"/>
              <a:t>В результате при учёте ограничений получается некоторый многоугольник или многогранник ограничений.</a:t>
            </a:r>
          </a:p>
          <a:p>
            <a:pPr marL="0" indent="0">
              <a:buNone/>
            </a:pPr>
            <a:r>
              <a:rPr lang="ru-RU" sz="2400" dirty="0"/>
              <a:t> </a:t>
            </a:r>
            <a:r>
              <a:rPr lang="ru-RU" sz="2400" b="1" i="1" dirty="0">
                <a:solidFill>
                  <a:srgbClr val="002060"/>
                </a:solidFill>
              </a:rPr>
              <a:t>На практике обычно 3 ограничения оказываются фиксированными. При этом говорят о треугольнике ограничений.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4C5C98-AA9C-4CCB-AE59-43574C353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85" y="2624480"/>
            <a:ext cx="4032665" cy="274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77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Проблема управления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Выбор технологического подхода, связанного с совокупностью процессов и стадий, сочетанием методик и практик, а также с уровнем формализации разработки, позволяет урегулировать треугольник ограничений.</a:t>
            </a:r>
          </a:p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Поэтому проблема управления заключается в поиске баланса в рамках системы ограничений проекта.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8297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Эффективное управление разработкой ПО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Эффективное управление разработкой ПО требует определённых формализаций выполняемых работ и их результатов.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/>
              <a:t>Произведённый результат</a:t>
            </a:r>
            <a:r>
              <a:rPr lang="ru-RU" sz="2400" b="1" dirty="0"/>
              <a:t> </a:t>
            </a:r>
            <a:r>
              <a:rPr lang="ru-RU" sz="2400" dirty="0"/>
              <a:t>– определённый реальный результат, произведённый проектом.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 Различают следующие произведённые результаты:</a:t>
            </a:r>
          </a:p>
          <a:p>
            <a:pPr marL="0" indent="0">
              <a:lnSpc>
                <a:spcPct val="150000"/>
              </a:lnSpc>
            </a:pPr>
            <a:r>
              <a:rPr lang="ru-RU" sz="2400" dirty="0"/>
              <a:t> </a:t>
            </a:r>
            <a:r>
              <a:rPr lang="ru-RU" sz="2400" i="1" dirty="0"/>
              <a:t>внутренний</a:t>
            </a:r>
            <a:r>
              <a:rPr lang="ru-RU" sz="2400" dirty="0"/>
              <a:t> – для использования проектной командой</a:t>
            </a:r>
          </a:p>
          <a:p>
            <a:pPr marL="0" indent="0">
              <a:lnSpc>
                <a:spcPct val="150000"/>
              </a:lnSpc>
            </a:pPr>
            <a:r>
              <a:rPr lang="ru-RU" sz="2400" i="1" dirty="0"/>
              <a:t>внешний</a:t>
            </a:r>
            <a:r>
              <a:rPr lang="ru-RU" sz="2400" dirty="0"/>
              <a:t> – для использования другими заинтересованными лицами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6859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Артефакт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90966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Формализацией произведённого результата является некоторый артефакт.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Примеры: модели и документы (планы, спецификации, диаграммы, код и т.п.).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i="1" dirty="0">
                <a:solidFill>
                  <a:srgbClr val="FF0000"/>
                </a:solidFill>
              </a:rPr>
              <a:t>Артефакт – формальный произведённый результат, создаваемый, изменяемый или используемый в нём при выполнении проекта.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 Артефакт определяет область ответственности: за его создание отвечают определённые исполнители или их группы.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В рамках отдельной задачи (и </a:t>
            </a:r>
            <a:r>
              <a:rPr lang="ru-RU" sz="2400" dirty="0" err="1"/>
              <a:t>таймбокса</a:t>
            </a:r>
            <a:r>
              <a:rPr lang="ru-RU" sz="2400" dirty="0"/>
              <a:t>) таким результатом является </a:t>
            </a:r>
            <a:r>
              <a:rPr lang="ru-RU" sz="2400" i="1" dirty="0"/>
              <a:t>рабочий продукт</a:t>
            </a:r>
            <a:r>
              <a:rPr lang="ru-RU" sz="2400" dirty="0"/>
              <a:t>, но в ряде подходов это синоним артефакта.</a:t>
            </a:r>
          </a:p>
        </p:txBody>
      </p:sp>
    </p:spTree>
    <p:extLst>
      <p:ext uri="{BB962C8B-B14F-4D97-AF65-F5344CB8AC3E}">
        <p14:creationId xmlns:p14="http://schemas.microsoft.com/office/powerpoint/2010/main" val="35147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Базовая линия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99890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Для формализации внесения изменений в произведённый результат используется понятие «базовая линия».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Базовая линия</a:t>
            </a:r>
            <a:r>
              <a:rPr lang="ru-RU" sz="2400" b="1" dirty="0">
                <a:solidFill>
                  <a:srgbClr val="002060"/>
                </a:solidFill>
              </a:rPr>
              <a:t> – официально принятый вариант произведённого результата, обозначенный и зафиксированный в конкретный момент времени </a:t>
            </a:r>
            <a:r>
              <a:rPr lang="ru-RU" sz="2400" b="1" dirty="0" err="1">
                <a:solidFill>
                  <a:srgbClr val="002060"/>
                </a:solidFill>
              </a:rPr>
              <a:t>ЖЦ</a:t>
            </a:r>
            <a:r>
              <a:rPr lang="ru-RU" sz="2400" b="1" dirty="0">
                <a:solidFill>
                  <a:srgbClr val="002060"/>
                </a:solidFill>
              </a:rPr>
              <a:t>. </a:t>
            </a:r>
            <a:r>
              <a:rPr lang="ru-RU" sz="2400" dirty="0"/>
              <a:t>Изменения, вносимые в базовую линию, должны быть предварительно утверждены, т.е. должны пройти через специальное формализованное действие. </a:t>
            </a:r>
          </a:p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Для проекта в целом базовая линия обычно переводится как базовый план – исходный план проекта с утверждёнными изменениями.</a:t>
            </a:r>
          </a:p>
          <a:p>
            <a:pPr marL="0" indent="0">
              <a:buNone/>
            </a:pPr>
            <a:r>
              <a:rPr lang="ru-RU" sz="2400" b="1" dirty="0">
                <a:solidFill>
                  <a:srgbClr val="002060"/>
                </a:solidFill>
              </a:rPr>
              <a:t>Для анализа проекта используются контрольные точки и вехи. 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Контрольная точка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– событие в </a:t>
            </a:r>
            <a:r>
              <a:rPr lang="ru-RU" sz="2400" dirty="0" err="1"/>
              <a:t>ЖЦ</a:t>
            </a:r>
            <a:r>
              <a:rPr lang="ru-RU" sz="2400" dirty="0"/>
              <a:t> для проверки выполненной и оценки оставшейся работы по проекту. </a:t>
            </a:r>
          </a:p>
          <a:p>
            <a:pPr marL="0" indent="0">
              <a:buNone/>
            </a:pPr>
            <a:r>
              <a:rPr lang="ru-RU" sz="2400" dirty="0"/>
              <a:t>Моментами времени для контрольных точек часто выступают границы стадий.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Веха</a:t>
            </a:r>
            <a:r>
              <a:rPr lang="ru-RU" sz="2400" i="1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– событие </a:t>
            </a:r>
            <a:r>
              <a:rPr lang="ru-RU" sz="2400" dirty="0" err="1"/>
              <a:t>ЖЦ</a:t>
            </a:r>
            <a:r>
              <a:rPr lang="ru-RU" sz="2400" dirty="0"/>
              <a:t> для обозначения завершения произведённого результата или их набора. Вехи часто используются в качестве контрольных точек.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6112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Итерация</a:t>
            </a:r>
            <a:r>
              <a:rPr lang="ru-RU" sz="2800" b="1" i="1" dirty="0">
                <a:solidFill>
                  <a:srgbClr val="002060"/>
                </a:solidFill>
              </a:rPr>
              <a:t> </a:t>
            </a:r>
            <a:endParaRPr lang="ru-RU" sz="2800" b="1" dirty="0">
              <a:gradFill>
                <a:gsLst>
                  <a:gs pos="0">
                    <a:srgbClr val="009900"/>
                  </a:gs>
                  <a:gs pos="50000">
                    <a:srgbClr val="92D050"/>
                  </a:gs>
                  <a:gs pos="100000">
                    <a:srgbClr val="009900"/>
                  </a:gs>
                </a:gsLst>
                <a:lin ang="5400000" scaled="1"/>
              </a:gradFill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509254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Вследствие итерационного выполнения работ получаемые результаты постепенно улучшаются до целевых результатов, диктуемых заданными требованиями, которые также могут изменяться. 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Итерация</a:t>
            </a:r>
            <a:r>
              <a:rPr lang="ru-RU" sz="2400" i="1" dirty="0">
                <a:solidFill>
                  <a:srgbClr val="FF0000"/>
                </a:solidFill>
              </a:rPr>
              <a:t> – ограниченная во времени повторяемая часть проекта. </a:t>
            </a:r>
            <a:r>
              <a:rPr lang="ru-RU" sz="2400" dirty="0"/>
              <a:t>Итерацией может выступать весь цикл разработки или его часть, что определяется их длительностью и моделью </a:t>
            </a:r>
            <a:r>
              <a:rPr lang="ru-RU" sz="2400" dirty="0" err="1"/>
              <a:t>ЖЦ</a:t>
            </a:r>
            <a:r>
              <a:rPr lang="ru-RU" sz="2400" dirty="0"/>
              <a:t>. В этом случае итерация цикла разработки называется </a:t>
            </a:r>
            <a:r>
              <a:rPr lang="ru-RU" sz="2400" dirty="0" err="1"/>
              <a:t>макроитерацией</a:t>
            </a:r>
            <a:r>
              <a:rPr lang="ru-RU" sz="2400" dirty="0"/>
              <a:t> или просто </a:t>
            </a:r>
            <a:r>
              <a:rPr lang="ru-RU" sz="2400" i="1" dirty="0"/>
              <a:t>циклом</a:t>
            </a:r>
            <a:r>
              <a:rPr lang="ru-RU" sz="2400" dirty="0"/>
              <a:t>, итерация стадии – просто </a:t>
            </a:r>
            <a:r>
              <a:rPr lang="ru-RU" sz="2400" i="1" dirty="0"/>
              <a:t>итерацией</a:t>
            </a:r>
            <a:r>
              <a:rPr lang="ru-RU" sz="2400" dirty="0"/>
              <a:t>, а итерация этапа – </a:t>
            </a:r>
            <a:r>
              <a:rPr lang="ru-RU" sz="2400" dirty="0" err="1"/>
              <a:t>микроитерацией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/>
              <a:t>Для управляемого выполнения отдельных задач используются </a:t>
            </a:r>
            <a:r>
              <a:rPr lang="ru-RU" sz="2400" dirty="0" err="1"/>
              <a:t>таймбоксы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i="1" dirty="0" err="1">
                <a:solidFill>
                  <a:srgbClr val="FF0000"/>
                </a:solidFill>
              </a:rPr>
              <a:t>Таймбокс</a:t>
            </a:r>
            <a:r>
              <a:rPr lang="ru-RU" sz="2400" i="1" dirty="0">
                <a:solidFill>
                  <a:srgbClr val="FF0000"/>
                </a:solidFill>
              </a:rPr>
              <a:t> (букв. временной ящик) – небольшой промежуток времени для выполнения конкретной задачи и произведения её результатов.</a:t>
            </a:r>
          </a:p>
          <a:p>
            <a:pPr marL="0" indent="0">
              <a:buNone/>
            </a:pPr>
            <a:r>
              <a:rPr lang="ru-RU" sz="2400" b="1" dirty="0" err="1">
                <a:solidFill>
                  <a:srgbClr val="002060"/>
                </a:solidFill>
              </a:rPr>
              <a:t>Таймбокс</a:t>
            </a:r>
            <a:r>
              <a:rPr lang="ru-RU" sz="2400" b="1" dirty="0">
                <a:solidFill>
                  <a:srgbClr val="002060"/>
                </a:solidFill>
              </a:rPr>
              <a:t> характеризуется жёстко заданными временными рамками. </a:t>
            </a:r>
            <a:r>
              <a:rPr lang="ru-RU" sz="2400" dirty="0"/>
              <a:t>Рамки нужно соблюсти, даже если придётся выдать не вполне завершённые результаты. Иначе задача считается проваленной и приходится или отказаться от неё, или запланировать её повторно.</a:t>
            </a:r>
          </a:p>
        </p:txBody>
      </p:sp>
    </p:spTree>
    <p:extLst>
      <p:ext uri="{BB962C8B-B14F-4D97-AF65-F5344CB8AC3E}">
        <p14:creationId xmlns:p14="http://schemas.microsoft.com/office/powerpoint/2010/main" val="15394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Итерация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9553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Вертикальное измерение </a:t>
            </a:r>
            <a:r>
              <a:rPr lang="ru-RU" sz="2400" dirty="0"/>
              <a:t>оперирует также такими понятиями, как:</a:t>
            </a:r>
          </a:p>
          <a:p>
            <a:pPr marL="0" indent="0">
              <a:buNone/>
            </a:pPr>
            <a:r>
              <a:rPr lang="ru-RU" sz="2400" dirty="0"/>
              <a:t>произведённые результаты (артефакты, рабочие продукты исполнители (роли и ответственности). </a:t>
            </a:r>
          </a:p>
          <a:p>
            <a:pPr marL="0" indent="0"/>
            <a:endParaRPr lang="ru-RU" sz="2400" dirty="0"/>
          </a:p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Горизонтальное измерение </a:t>
            </a:r>
            <a:r>
              <a:rPr lang="ru-RU" sz="2400" dirty="0"/>
              <a:t>оперирует также такими понятиями, как:</a:t>
            </a:r>
          </a:p>
          <a:p>
            <a:pPr marL="0" indent="0"/>
            <a:r>
              <a:rPr lang="ru-RU" sz="2400" dirty="0"/>
              <a:t>контрольные точки и вехи,</a:t>
            </a:r>
          </a:p>
          <a:p>
            <a:pPr marL="0" indent="0"/>
            <a:r>
              <a:rPr lang="ru-RU" sz="2400" dirty="0"/>
              <a:t>итерации</a:t>
            </a:r>
          </a:p>
          <a:p>
            <a:pPr marL="0" indent="0"/>
            <a:r>
              <a:rPr lang="ru-RU" sz="2400" dirty="0" err="1"/>
              <a:t>таймбоксы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Однако эти понятия можно рассматривать и как характеристику нового, </a:t>
            </a:r>
            <a:r>
              <a:rPr lang="ru-RU" sz="2400" b="1" i="1" dirty="0">
                <a:solidFill>
                  <a:srgbClr val="002060"/>
                </a:solidFill>
              </a:rPr>
              <a:t>третьего измерения</a:t>
            </a:r>
            <a:r>
              <a:rPr lang="ru-RU" sz="2400" dirty="0"/>
              <a:t>. Это измерение оказывается связанным с </a:t>
            </a:r>
            <a:r>
              <a:rPr lang="ru-RU" sz="2400" b="1" i="1" dirty="0">
                <a:solidFill>
                  <a:srgbClr val="002060"/>
                </a:solidFill>
              </a:rPr>
              <a:t>формализацией</a:t>
            </a:r>
            <a:r>
              <a:rPr lang="ru-RU" sz="2400" dirty="0"/>
              <a:t>, </a:t>
            </a:r>
            <a:r>
              <a:rPr lang="ru-RU" sz="2400" b="1" i="1" dirty="0">
                <a:solidFill>
                  <a:srgbClr val="002060"/>
                </a:solidFill>
              </a:rPr>
              <a:t>необходимой для управления проектом.</a:t>
            </a:r>
          </a:p>
        </p:txBody>
      </p:sp>
    </p:spTree>
    <p:extLst>
      <p:ext uri="{BB962C8B-B14F-4D97-AF65-F5344CB8AC3E}">
        <p14:creationId xmlns:p14="http://schemas.microsoft.com/office/powerpoint/2010/main" val="64479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Существует два основных набора технологических процессов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949847"/>
            <a:ext cx="11697948" cy="480147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Классический набор </a:t>
            </a:r>
            <a:r>
              <a:rPr lang="ru-RU" sz="2400" dirty="0"/>
              <a:t>– совокупность основных процессов, сложившихся исторически в результате практического опыта разработки ПО.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FF0000"/>
                </a:solidFill>
              </a:rPr>
              <a:t>Классический набор включает 9 процессов:</a:t>
            </a:r>
          </a:p>
          <a:p>
            <a:pPr marL="0" indent="0">
              <a:buNone/>
            </a:pPr>
            <a:r>
              <a:rPr lang="ru-RU" sz="2400" dirty="0"/>
              <a:t>1. Исследование</a:t>
            </a:r>
          </a:p>
          <a:p>
            <a:pPr marL="0" indent="0">
              <a:buNone/>
            </a:pPr>
            <a:r>
              <a:rPr lang="ru-RU" sz="2400" dirty="0"/>
              <a:t>2. Управление</a:t>
            </a:r>
          </a:p>
          <a:p>
            <a:pPr marL="0" indent="0">
              <a:buNone/>
            </a:pPr>
            <a:r>
              <a:rPr lang="ru-RU" sz="2400" dirty="0"/>
              <a:t>3.  Анализ</a:t>
            </a:r>
          </a:p>
          <a:p>
            <a:pPr marL="0" indent="0">
              <a:buNone/>
            </a:pPr>
            <a:r>
              <a:rPr lang="ru-RU" sz="2400" dirty="0"/>
              <a:t>4. Проектирование</a:t>
            </a:r>
          </a:p>
          <a:p>
            <a:pPr marL="0" indent="0">
              <a:buNone/>
            </a:pPr>
            <a:r>
              <a:rPr lang="ru-RU" sz="2400" dirty="0"/>
              <a:t>5. Кодирование</a:t>
            </a:r>
          </a:p>
          <a:p>
            <a:pPr marL="0" indent="0">
              <a:buNone/>
            </a:pPr>
            <a:r>
              <a:rPr lang="ru-RU" sz="2400" dirty="0"/>
              <a:t>6. Тестирование</a:t>
            </a:r>
          </a:p>
          <a:p>
            <a:pPr marL="0" indent="0">
              <a:buNone/>
            </a:pPr>
            <a:r>
              <a:rPr lang="ru-RU" sz="2400" dirty="0"/>
              <a:t>7. Ввод в действие</a:t>
            </a:r>
          </a:p>
          <a:p>
            <a:pPr marL="0" indent="0">
              <a:buNone/>
            </a:pPr>
            <a:r>
              <a:rPr lang="ru-RU" sz="2400" dirty="0"/>
              <a:t>8. Сопровождение </a:t>
            </a:r>
          </a:p>
          <a:p>
            <a:pPr marL="0" indent="0">
              <a:buNone/>
            </a:pPr>
            <a:r>
              <a:rPr lang="ru-RU" sz="2400" dirty="0"/>
              <a:t>9. Снятие с эксплуатации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9355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Существует два основных вида формирования технологических стадий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949847"/>
            <a:ext cx="11697948" cy="434156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b="1" i="1" dirty="0" err="1"/>
              <a:t>Попроцессное</a:t>
            </a:r>
            <a:r>
              <a:rPr lang="ru-RU" sz="2400" b="1" i="1" dirty="0"/>
              <a:t> формирование стадий</a:t>
            </a:r>
            <a:r>
              <a:rPr lang="ru-RU" sz="2400" b="1" dirty="0"/>
              <a:t> </a:t>
            </a:r>
            <a:r>
              <a:rPr lang="ru-RU" sz="2400" dirty="0"/>
              <a:t>– выделение стадий, отражающих названия процессов (или отдельных действий), большая часть времени которых проходит в данной стадии.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 err="1"/>
              <a:t>Пофазное</a:t>
            </a:r>
            <a:r>
              <a:rPr lang="ru-RU" sz="2400" b="1" i="1" dirty="0"/>
              <a:t> формирование стадий</a:t>
            </a:r>
            <a:r>
              <a:rPr lang="ru-RU" sz="2400" b="1" dirty="0"/>
              <a:t> </a:t>
            </a:r>
            <a:r>
              <a:rPr lang="ru-RU" sz="2400" dirty="0"/>
              <a:t>– объединение стадий в фазы, отражающие крупные временные промежутки.</a:t>
            </a:r>
          </a:p>
        </p:txBody>
      </p:sp>
    </p:spTree>
    <p:extLst>
      <p:ext uri="{BB962C8B-B14F-4D97-AF65-F5344CB8AC3E}">
        <p14:creationId xmlns:p14="http://schemas.microsoft.com/office/powerpoint/2010/main" val="229681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Стадия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5653A9-2ECA-44A2-AD5A-0C3138B20E7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8892" y="1774707"/>
            <a:ext cx="8966443" cy="428276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8FC375-E029-4D1D-A285-4FA9562FE8BF}"/>
              </a:ext>
            </a:extLst>
          </p:cNvPr>
          <p:cNvSpPr/>
          <p:nvPr/>
        </p:nvSpPr>
        <p:spPr>
          <a:xfrm>
            <a:off x="6202295" y="3085091"/>
            <a:ext cx="21696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002060"/>
                </a:solidFill>
              </a:rPr>
              <a:t>Методика</a:t>
            </a:r>
          </a:p>
          <a:p>
            <a:r>
              <a:rPr lang="ru-RU" sz="2400" b="1" i="1" dirty="0">
                <a:solidFill>
                  <a:srgbClr val="002060"/>
                </a:solidFill>
              </a:rPr>
              <a:t>Практика</a:t>
            </a:r>
            <a:endParaRPr lang="ru-RU" sz="24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D8D2A36-D6CA-46BD-8858-E3C7F8967A20}"/>
              </a:ext>
            </a:extLst>
          </p:cNvPr>
          <p:cNvSpPr/>
          <p:nvPr/>
        </p:nvSpPr>
        <p:spPr>
          <a:xfrm>
            <a:off x="84463" y="1934837"/>
            <a:ext cx="316551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Исследование</a:t>
            </a:r>
          </a:p>
          <a:p>
            <a:r>
              <a:rPr lang="ru-RU" dirty="0"/>
              <a:t>2. Управление</a:t>
            </a:r>
          </a:p>
          <a:p>
            <a:r>
              <a:rPr lang="ru-RU" dirty="0"/>
              <a:t>3.  Анализ</a:t>
            </a:r>
          </a:p>
          <a:p>
            <a:r>
              <a:rPr lang="ru-RU" dirty="0"/>
              <a:t>4. Проектирование</a:t>
            </a:r>
          </a:p>
          <a:p>
            <a:r>
              <a:rPr lang="ru-RU" dirty="0"/>
              <a:t>5. Кодирование</a:t>
            </a:r>
          </a:p>
          <a:p>
            <a:r>
              <a:rPr lang="ru-RU" dirty="0"/>
              <a:t>6. Тестирование</a:t>
            </a:r>
          </a:p>
          <a:p>
            <a:r>
              <a:rPr lang="ru-RU" dirty="0"/>
              <a:t>7. Ввод в действие</a:t>
            </a:r>
          </a:p>
          <a:p>
            <a:r>
              <a:rPr lang="ru-RU" dirty="0"/>
              <a:t>8. Сопровождение </a:t>
            </a:r>
          </a:p>
          <a:p>
            <a:r>
              <a:rPr lang="ru-RU" dirty="0"/>
              <a:t>9. Снятие с эксплуатации</a:t>
            </a:r>
          </a:p>
        </p:txBody>
      </p:sp>
    </p:spTree>
    <p:extLst>
      <p:ext uri="{BB962C8B-B14F-4D97-AF65-F5344CB8AC3E}">
        <p14:creationId xmlns:p14="http://schemas.microsoft.com/office/powerpoint/2010/main" val="45274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Попроцессное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формирование стадий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90966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i="1" dirty="0" err="1">
                <a:solidFill>
                  <a:srgbClr val="FF0000"/>
                </a:solidFill>
              </a:rPr>
              <a:t>Попроцессное</a:t>
            </a:r>
            <a:r>
              <a:rPr lang="ru-RU" sz="2400" i="1" dirty="0">
                <a:solidFill>
                  <a:srgbClr val="FF0000"/>
                </a:solidFill>
              </a:rPr>
              <a:t> формирование стадий обычно используют для классических процессов (или их под- или надмножества).</a:t>
            </a:r>
          </a:p>
          <a:p>
            <a:pPr marL="0" indent="0">
              <a:buNone/>
            </a:pPr>
            <a:endParaRPr lang="ru-RU" sz="24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400" dirty="0"/>
              <a:t>В подходах с этой классификацией обычно выделяют </a:t>
            </a:r>
          </a:p>
          <a:p>
            <a:pPr marL="0" indent="0">
              <a:buNone/>
            </a:pPr>
            <a:r>
              <a:rPr lang="ru-RU" sz="2400" b="1" dirty="0">
                <a:solidFill>
                  <a:srgbClr val="FF0000"/>
                </a:solidFill>
              </a:rPr>
              <a:t>9 стадий:</a:t>
            </a:r>
          </a:p>
          <a:p>
            <a:pPr marL="0" indent="0">
              <a:buNone/>
            </a:pPr>
            <a:r>
              <a:rPr lang="ru-RU" sz="2400" dirty="0"/>
              <a:t>1. Исследование идеи</a:t>
            </a:r>
          </a:p>
          <a:p>
            <a:pPr marL="0" indent="0">
              <a:buNone/>
            </a:pPr>
            <a:r>
              <a:rPr lang="ru-RU" sz="2400" dirty="0"/>
              <a:t>2. Планирование</a:t>
            </a:r>
          </a:p>
          <a:p>
            <a:pPr marL="0" indent="0">
              <a:buNone/>
            </a:pPr>
            <a:r>
              <a:rPr lang="ru-RU" sz="2400" dirty="0"/>
              <a:t>3. Анализ требований</a:t>
            </a:r>
          </a:p>
          <a:p>
            <a:pPr marL="0" indent="0">
              <a:buNone/>
            </a:pPr>
            <a:r>
              <a:rPr lang="ru-RU" sz="2400" dirty="0"/>
              <a:t>4. Проектирование</a:t>
            </a:r>
          </a:p>
          <a:p>
            <a:pPr marL="0" indent="0">
              <a:buNone/>
            </a:pPr>
            <a:r>
              <a:rPr lang="ru-RU" sz="2400" dirty="0"/>
              <a:t>5. Кодирование</a:t>
            </a:r>
          </a:p>
          <a:p>
            <a:pPr marL="0" indent="0">
              <a:buNone/>
            </a:pPr>
            <a:r>
              <a:rPr lang="ru-RU" sz="2400" dirty="0"/>
              <a:t>6. Тестирование и отладка</a:t>
            </a:r>
          </a:p>
          <a:p>
            <a:pPr marL="0" indent="0">
              <a:buNone/>
            </a:pPr>
            <a:r>
              <a:rPr lang="ru-RU" sz="2400" dirty="0"/>
              <a:t>7. Ввод в действие</a:t>
            </a:r>
          </a:p>
          <a:p>
            <a:pPr marL="0" indent="0">
              <a:buNone/>
            </a:pPr>
            <a:r>
              <a:rPr lang="ru-RU" sz="2400" dirty="0"/>
              <a:t>8. Эксплуатация и сопровождение;</a:t>
            </a:r>
          </a:p>
          <a:p>
            <a:pPr marL="0" indent="0">
              <a:buNone/>
            </a:pPr>
            <a:r>
              <a:rPr lang="ru-RU" sz="2400" dirty="0"/>
              <a:t>9. Снятие с эксплуатации</a:t>
            </a:r>
          </a:p>
        </p:txBody>
      </p:sp>
    </p:spTree>
    <p:extLst>
      <p:ext uri="{BB962C8B-B14F-4D97-AF65-F5344CB8AC3E}">
        <p14:creationId xmlns:p14="http://schemas.microsoft.com/office/powerpoint/2010/main" val="192773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Пофазное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формирование стадий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987887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i="1" dirty="0" err="1">
                <a:solidFill>
                  <a:srgbClr val="FF0000"/>
                </a:solidFill>
              </a:rPr>
              <a:t>Пофазное</a:t>
            </a:r>
            <a:r>
              <a:rPr lang="ru-RU" sz="2400" i="1" dirty="0">
                <a:solidFill>
                  <a:srgbClr val="FF0000"/>
                </a:solidFill>
              </a:rPr>
              <a:t> формирование стадий обычно используют для стандартных процессов (или их под- или надмножества).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В большинстве подходов с этой классификацией выделяют </a:t>
            </a:r>
            <a:r>
              <a:rPr lang="ru-RU" sz="2400" b="1" dirty="0">
                <a:solidFill>
                  <a:srgbClr val="FF0000"/>
                </a:solidFill>
              </a:rPr>
              <a:t>4 основные фазы: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1. Начало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2. Середина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3. Кульминация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4. Переход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В ряде подходов выделяют </a:t>
            </a:r>
            <a:r>
              <a:rPr lang="ru-RU" sz="2400" i="1" dirty="0">
                <a:solidFill>
                  <a:srgbClr val="FF0000"/>
                </a:solidFill>
              </a:rPr>
              <a:t>2 дополнительные фазы: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5. Работа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6. Окончание</a:t>
            </a:r>
          </a:p>
        </p:txBody>
      </p:sp>
    </p:spTree>
    <p:extLst>
      <p:ext uri="{BB962C8B-B14F-4D97-AF65-F5344CB8AC3E}">
        <p14:creationId xmlns:p14="http://schemas.microsoft.com/office/powerpoint/2010/main" val="427252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Стадия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5653A9-2ECA-44A2-AD5A-0C3138B20E7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8892" y="1774707"/>
            <a:ext cx="8966443" cy="428276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8FC375-E029-4D1D-A285-4FA9562FE8BF}"/>
              </a:ext>
            </a:extLst>
          </p:cNvPr>
          <p:cNvSpPr/>
          <p:nvPr/>
        </p:nvSpPr>
        <p:spPr>
          <a:xfrm>
            <a:off x="6202295" y="3085091"/>
            <a:ext cx="21696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002060"/>
                </a:solidFill>
              </a:rPr>
              <a:t>Методика</a:t>
            </a:r>
          </a:p>
          <a:p>
            <a:r>
              <a:rPr lang="ru-RU" sz="2400" b="1" i="1" dirty="0">
                <a:solidFill>
                  <a:srgbClr val="002060"/>
                </a:solidFill>
              </a:rPr>
              <a:t>Практика</a:t>
            </a:r>
            <a:endParaRPr lang="ru-RU" sz="24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D8D2A36-D6CA-46BD-8858-E3C7F8967A20}"/>
              </a:ext>
            </a:extLst>
          </p:cNvPr>
          <p:cNvSpPr/>
          <p:nvPr/>
        </p:nvSpPr>
        <p:spPr>
          <a:xfrm>
            <a:off x="84463" y="1701085"/>
            <a:ext cx="3165513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ПРОЦЕССЫ</a:t>
            </a:r>
          </a:p>
          <a:p>
            <a:pPr>
              <a:lnSpc>
                <a:spcPct val="150000"/>
              </a:lnSpc>
            </a:pPr>
            <a:r>
              <a:rPr lang="ru-RU" dirty="0"/>
              <a:t>1. Исследование</a:t>
            </a:r>
          </a:p>
          <a:p>
            <a:pPr>
              <a:lnSpc>
                <a:spcPct val="150000"/>
              </a:lnSpc>
            </a:pPr>
            <a:r>
              <a:rPr lang="ru-RU" dirty="0"/>
              <a:t>2. Управление</a:t>
            </a:r>
          </a:p>
          <a:p>
            <a:pPr>
              <a:lnSpc>
                <a:spcPct val="150000"/>
              </a:lnSpc>
            </a:pPr>
            <a:r>
              <a:rPr lang="ru-RU" dirty="0"/>
              <a:t>3. Анализ</a:t>
            </a:r>
          </a:p>
          <a:p>
            <a:pPr>
              <a:lnSpc>
                <a:spcPct val="150000"/>
              </a:lnSpc>
            </a:pPr>
            <a:r>
              <a:rPr lang="ru-RU" dirty="0"/>
              <a:t>4. Проектирование</a:t>
            </a:r>
          </a:p>
          <a:p>
            <a:pPr>
              <a:lnSpc>
                <a:spcPct val="150000"/>
              </a:lnSpc>
            </a:pPr>
            <a:r>
              <a:rPr lang="ru-RU" dirty="0"/>
              <a:t>5. Кодирование</a:t>
            </a:r>
          </a:p>
          <a:p>
            <a:pPr>
              <a:lnSpc>
                <a:spcPct val="150000"/>
              </a:lnSpc>
            </a:pPr>
            <a:r>
              <a:rPr lang="ru-RU" dirty="0"/>
              <a:t>6. Тестирование</a:t>
            </a:r>
          </a:p>
          <a:p>
            <a:pPr>
              <a:lnSpc>
                <a:spcPct val="150000"/>
              </a:lnSpc>
            </a:pPr>
            <a:r>
              <a:rPr lang="ru-RU" dirty="0"/>
              <a:t>7. Ввод в действие</a:t>
            </a:r>
          </a:p>
          <a:p>
            <a:pPr>
              <a:lnSpc>
                <a:spcPct val="150000"/>
              </a:lnSpc>
            </a:pPr>
            <a:r>
              <a:rPr lang="ru-RU" dirty="0"/>
              <a:t>8. Сопровождение </a:t>
            </a:r>
          </a:p>
          <a:p>
            <a:pPr>
              <a:lnSpc>
                <a:spcPct val="150000"/>
              </a:lnSpc>
            </a:pPr>
            <a:r>
              <a:rPr lang="ru-RU" dirty="0"/>
              <a:t>9. Снятие с эксплуатации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C450C8-192C-45CC-95CE-CEB5CC775EC4}"/>
              </a:ext>
            </a:extLst>
          </p:cNvPr>
          <p:cNvSpPr/>
          <p:nvPr/>
        </p:nvSpPr>
        <p:spPr>
          <a:xfrm>
            <a:off x="3249976" y="6057470"/>
            <a:ext cx="8366373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ФАЗЫ: 1. Начало  2. Середина  3. Кульминация  4. Переход</a:t>
            </a:r>
          </a:p>
        </p:txBody>
      </p:sp>
    </p:spTree>
    <p:extLst>
      <p:ext uri="{BB962C8B-B14F-4D97-AF65-F5344CB8AC3E}">
        <p14:creationId xmlns:p14="http://schemas.microsoft.com/office/powerpoint/2010/main" val="331838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Характеристики выполняемых проектов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Классификация подходов тесно связана с характеристиками выполняемых проектов. 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По каждому признаку классификации проектов можно выделить множество проектов, для которых будут </a:t>
            </a:r>
            <a:r>
              <a:rPr lang="ru-RU" sz="2400" b="1" i="1" dirty="0">
                <a:solidFill>
                  <a:srgbClr val="002060"/>
                </a:solidFill>
              </a:rPr>
              <a:t>указаны только граничные значения.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b="1" i="1" dirty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По масштабу</a:t>
            </a:r>
            <a:r>
              <a:rPr lang="ru-RU" sz="2400" dirty="0"/>
              <a:t>, определяющему количество исполнителей и протяжённость (время выполнения) проекта, выделяют </a:t>
            </a:r>
            <a:r>
              <a:rPr lang="ru-RU" sz="2400" b="1" i="1" dirty="0">
                <a:solidFill>
                  <a:srgbClr val="002060"/>
                </a:solidFill>
              </a:rPr>
              <a:t>5 категорий проектов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7693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5 категорий проектов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416735"/>
              </p:ext>
            </p:extLst>
          </p:nvPr>
        </p:nvGraphicFramePr>
        <p:xfrm>
          <a:off x="1330314" y="1871701"/>
          <a:ext cx="9494520" cy="4235184"/>
        </p:xfrm>
        <a:graphic>
          <a:graphicData uri="http://schemas.openxmlformats.org/drawingml/2006/table">
            <a:tbl>
              <a:tblPr/>
              <a:tblGrid>
                <a:gridCol w="210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9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1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b="1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Категория</a:t>
                      </a:r>
                    </a:p>
                  </a:txBody>
                  <a:tcPr marL="35560" marR="3556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b="1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Число исполнителей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b="1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Протяжённость проекта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мелкий</a:t>
                      </a:r>
                    </a:p>
                  </a:txBody>
                  <a:tcPr marL="35560" marR="3556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1 до 3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1 часа до 2 месяцев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малый</a:t>
                      </a:r>
                    </a:p>
                  </a:txBody>
                  <a:tcPr marL="35560" marR="3556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3 до 10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2 до 6 месяцев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средний</a:t>
                      </a:r>
                    </a:p>
                  </a:txBody>
                  <a:tcPr marL="35560" marR="3556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10 до 30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6 месяцев до 1 года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крупный</a:t>
                      </a:r>
                    </a:p>
                  </a:txBody>
                  <a:tcPr marL="35560" marR="3556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30 до 100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1 года до 2 лет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гигантский</a:t>
                      </a:r>
                    </a:p>
                  </a:txBody>
                  <a:tcPr marL="35560" marR="3556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100 до 300 и более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2000" kern="1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от 2 до 6 лет и более</a:t>
                      </a:r>
                    </a:p>
                  </a:txBody>
                  <a:tcPr marL="35560" marR="3556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72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В настоящее время выделяют два класса подходов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50925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i="1" dirty="0">
                <a:solidFill>
                  <a:srgbClr val="FF0000"/>
                </a:solidFill>
              </a:rPr>
              <a:t>Строгие</a:t>
            </a:r>
            <a:r>
              <a:rPr lang="ru-RU" sz="2400" i="1" dirty="0"/>
              <a:t> </a:t>
            </a:r>
            <a:r>
              <a:rPr lang="ru-RU" sz="2400" dirty="0"/>
              <a:t>(тж. </a:t>
            </a:r>
            <a:r>
              <a:rPr lang="ru-RU" sz="2400" i="1" dirty="0">
                <a:solidFill>
                  <a:srgbClr val="FF0000"/>
                </a:solidFill>
              </a:rPr>
              <a:t>тяжёлые, жёсткие</a:t>
            </a:r>
            <a:r>
              <a:rPr lang="ru-RU" sz="2400" dirty="0"/>
              <a:t>) </a:t>
            </a:r>
            <a:r>
              <a:rPr lang="ru-RU" sz="2400" i="1" dirty="0"/>
              <a:t>подходы</a:t>
            </a:r>
            <a:r>
              <a:rPr lang="ru-RU" sz="2400" dirty="0"/>
              <a:t> ориентированы в основном на применение в средних, крупных и гигантских проектах с фиксированным объёмом работ. Поэтому </a:t>
            </a:r>
            <a:r>
              <a:rPr lang="ru-RU" sz="2400" b="1" dirty="0">
                <a:solidFill>
                  <a:srgbClr val="002060"/>
                </a:solidFill>
              </a:rPr>
              <a:t>основное требование к таким проектам – предсказуемость.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i="1" dirty="0">
                <a:solidFill>
                  <a:srgbClr val="FF0000"/>
                </a:solidFill>
              </a:rPr>
              <a:t>Гибкие </a:t>
            </a:r>
            <a:r>
              <a:rPr lang="ru-RU" sz="2400" dirty="0"/>
              <a:t>(тж. </a:t>
            </a:r>
            <a:r>
              <a:rPr lang="ru-RU" sz="2400" i="1" dirty="0">
                <a:solidFill>
                  <a:srgbClr val="FF0000"/>
                </a:solidFill>
              </a:rPr>
              <a:t>лёгкие, живые</a:t>
            </a:r>
            <a:r>
              <a:rPr lang="ru-RU" sz="2400" dirty="0"/>
              <a:t>) </a:t>
            </a:r>
            <a:r>
              <a:rPr lang="ru-RU" sz="2400" i="1" dirty="0"/>
              <a:t>подходы</a:t>
            </a:r>
            <a:r>
              <a:rPr lang="ru-RU" sz="2400" dirty="0"/>
              <a:t> ориентированы в основном на применение в мелких, малых или средних проектах в случае неясных или изменяющихся требований к системе. Поэтому </a:t>
            </a:r>
            <a:r>
              <a:rPr lang="ru-RU" sz="2400" b="1" dirty="0">
                <a:solidFill>
                  <a:srgbClr val="002060"/>
                </a:solidFill>
              </a:rPr>
              <a:t>основное требование к таким проектам – непосредственное участие заказчика в проекте. </a:t>
            </a:r>
            <a:r>
              <a:rPr lang="ru-RU" sz="2400" dirty="0"/>
              <a:t>Для большинства гибких подходов важным является </a:t>
            </a:r>
            <a:r>
              <a:rPr lang="ru-RU" sz="2400" b="1" i="1" dirty="0">
                <a:solidFill>
                  <a:srgbClr val="002060"/>
                </a:solidFill>
              </a:rPr>
              <a:t>требование адаптируемости.</a:t>
            </a:r>
            <a:r>
              <a:rPr lang="ru-RU" sz="2400" i="1" dirty="0">
                <a:solidFill>
                  <a:srgbClr val="FF0000"/>
                </a:solidFill>
              </a:rPr>
              <a:t>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890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В настоящее время выделяют два класса подходов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50925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Внутри классов подходов принято условно выделять группы подходов с рядом принципов, общих для этих подходов.</a:t>
            </a:r>
          </a:p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 К классу строгих подходов относят:</a:t>
            </a:r>
          </a:p>
          <a:p>
            <a:pPr marL="0" indent="0"/>
            <a:r>
              <a:rPr lang="ru-RU" sz="2400" dirty="0"/>
              <a:t>каскадные</a:t>
            </a:r>
          </a:p>
          <a:p>
            <a:pPr marL="0" indent="0"/>
            <a:r>
              <a:rPr lang="ru-RU" sz="2400" dirty="0"/>
              <a:t>каркасные</a:t>
            </a:r>
          </a:p>
          <a:p>
            <a:pPr marL="0" indent="0"/>
            <a:r>
              <a:rPr lang="ru-RU" sz="2400" dirty="0"/>
              <a:t>генетические</a:t>
            </a:r>
          </a:p>
          <a:p>
            <a:pPr marL="0" indent="0"/>
            <a:r>
              <a:rPr lang="ru-RU" sz="2400" dirty="0"/>
              <a:t>формальные подходы</a:t>
            </a:r>
          </a:p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к классу гибких:</a:t>
            </a:r>
          </a:p>
          <a:p>
            <a:pPr marL="0" indent="0"/>
            <a:r>
              <a:rPr lang="ru-RU" sz="2400" dirty="0"/>
              <a:t>эволюционные</a:t>
            </a:r>
          </a:p>
          <a:p>
            <a:pPr marL="0" indent="0"/>
            <a:r>
              <a:rPr lang="ru-RU" sz="2400" dirty="0"/>
              <a:t>адаптивные подходы</a:t>
            </a:r>
          </a:p>
        </p:txBody>
      </p:sp>
    </p:spTree>
    <p:extLst>
      <p:ext uri="{BB962C8B-B14F-4D97-AF65-F5344CB8AC3E}">
        <p14:creationId xmlns:p14="http://schemas.microsoft.com/office/powerpoint/2010/main" val="19956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Модели жизненного цикла ПО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9553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Основными моделями </a:t>
            </a:r>
            <a:r>
              <a:rPr lang="ru-RU" sz="2400" dirty="0" err="1"/>
              <a:t>ЖЦ</a:t>
            </a:r>
            <a:r>
              <a:rPr lang="ru-RU" sz="2400" dirty="0"/>
              <a:t> ПО считаются:</a:t>
            </a:r>
          </a:p>
          <a:p>
            <a:pPr marL="0" indent="0"/>
            <a:r>
              <a:rPr lang="ru-RU" sz="2400" dirty="0"/>
              <a:t> Каскадная модель</a:t>
            </a:r>
          </a:p>
          <a:p>
            <a:pPr marL="0" indent="0"/>
            <a:r>
              <a:rPr lang="ru-RU" sz="2400" dirty="0"/>
              <a:t> Итеративная инкрементная модель</a:t>
            </a:r>
          </a:p>
          <a:p>
            <a:pPr marL="0" indent="0"/>
            <a:r>
              <a:rPr lang="ru-RU" sz="2400" dirty="0"/>
              <a:t> Эволюционная модель</a:t>
            </a:r>
          </a:p>
          <a:p>
            <a:pPr marL="0" indent="0"/>
            <a:r>
              <a:rPr lang="ru-RU" sz="2400" dirty="0"/>
              <a:t> Спиральная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284548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Непланируемая модель или модель «кодирование – исправление»</a:t>
            </a:r>
          </a:p>
        </p:txBody>
      </p:sp>
      <p:pic>
        <p:nvPicPr>
          <p:cNvPr id="8" name="Содержимое 3"/>
          <p:cNvPicPr>
            <a:picLocks/>
          </p:cNvPicPr>
          <p:nvPr/>
        </p:nvPicPr>
        <p:blipFill>
          <a:blip r:embed="rId3" cstate="print"/>
          <a:srcRect l="8397" t="4349" r="6297"/>
          <a:stretch>
            <a:fillRect/>
          </a:stretch>
        </p:blipFill>
        <p:spPr bwMode="auto">
          <a:xfrm>
            <a:off x="5343180" y="2067286"/>
            <a:ext cx="6676223" cy="379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225800C-2B4A-485F-972E-3AB5CD49393C}"/>
              </a:ext>
            </a:extLst>
          </p:cNvPr>
          <p:cNvSpPr/>
          <p:nvPr/>
        </p:nvSpPr>
        <p:spPr>
          <a:xfrm>
            <a:off x="172597" y="2216449"/>
            <a:ext cx="51705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Непланируемая модель</a:t>
            </a:r>
            <a:r>
              <a:rPr lang="ru-RU" dirty="0">
                <a:solidFill>
                  <a:srgbClr val="FF0000"/>
                </a:solidFill>
              </a:rPr>
              <a:t> или </a:t>
            </a:r>
            <a:r>
              <a:rPr lang="ru-RU" i="1" dirty="0">
                <a:solidFill>
                  <a:srgbClr val="FF0000"/>
                </a:solidFill>
              </a:rPr>
              <a:t>модель «кодирование – исправление»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является самой простой моделью ЖЦ ПО. </a:t>
            </a:r>
          </a:p>
          <a:p>
            <a:endParaRPr lang="ru-RU" dirty="0"/>
          </a:p>
          <a:p>
            <a:r>
              <a:rPr lang="ru-RU" dirty="0"/>
              <a:t>Принцип модели заключается в написании кода программы без какого-либо серьёзного предварительного анализа требований и проектирования, запусках программы для проверки его работоспособности и последующем исправлении ошибок и/или добавлении функциональности до получения варианта программы, удовлетворяющего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180125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Классическая каскадная модель или модель водопада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8639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i="1" dirty="0">
                <a:solidFill>
                  <a:srgbClr val="FF0000"/>
                </a:solidFill>
              </a:rPr>
              <a:t>Классическая каскадная модель</a:t>
            </a:r>
            <a:r>
              <a:rPr lang="ru-RU" sz="2400" dirty="0">
                <a:solidFill>
                  <a:srgbClr val="FF0000"/>
                </a:solidFill>
              </a:rPr>
              <a:t> или </a:t>
            </a:r>
            <a:r>
              <a:rPr lang="ru-RU" sz="2400" i="1" dirty="0">
                <a:solidFill>
                  <a:srgbClr val="FF0000"/>
                </a:solidFill>
              </a:rPr>
              <a:t>модель водопада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создана по аналогии с методиками из других инженерных областей, где существует практика поэтапного создания продукта от составления спецификаций до поставки заказчику. </a:t>
            </a:r>
          </a:p>
          <a:p>
            <a:pPr marL="0" indent="0">
              <a:buNone/>
            </a:pPr>
            <a:r>
              <a:rPr lang="ru-RU" sz="2400" dirty="0"/>
              <a:t>Принцип модели заключается в однократном выполнении процессов в виде заранее ограниченных и однозначно упорядоченных во времени стадий, осуществляемых как бы в их естественных границах.</a:t>
            </a:r>
          </a:p>
          <a:p>
            <a:pPr marL="0" indent="0">
              <a:buNone/>
            </a:pPr>
            <a:r>
              <a:rPr lang="ru-RU" sz="2400" i="1" dirty="0">
                <a:solidFill>
                  <a:srgbClr val="002060"/>
                </a:solidFill>
              </a:rPr>
              <a:t>Все процессы, действия, задачи выполняются чётко последовательно, не допускается никаких перекрытий, параллелизма и возвратов назад. </a:t>
            </a:r>
          </a:p>
          <a:p>
            <a:pPr marL="0" indent="0">
              <a:buNone/>
            </a:pPr>
            <a:r>
              <a:rPr lang="ru-RU" sz="2400" dirty="0"/>
              <a:t>Это жёсткое ограничение делает такую модель практически нереализуемой, так как на уже законченных стадиях не допустимы никакие ошибки, что требует получения артефактов идеального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59966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Классическая каскадная модель или модель водопада </a:t>
            </a:r>
          </a:p>
        </p:txBody>
      </p:sp>
      <p:pic>
        <p:nvPicPr>
          <p:cNvPr id="8" name="Содержимое 3"/>
          <p:cNvPicPr>
            <a:picLocks/>
          </p:cNvPicPr>
          <p:nvPr/>
        </p:nvPicPr>
        <p:blipFill>
          <a:blip r:embed="rId3" cstate="print"/>
          <a:srcRect l="6310" t="2655" r="5679" b="1328"/>
          <a:stretch>
            <a:fillRect/>
          </a:stretch>
        </p:blipFill>
        <p:spPr bwMode="auto">
          <a:xfrm>
            <a:off x="4010140" y="1923348"/>
            <a:ext cx="7513504" cy="440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7E725B-0C47-4B29-AE2C-13E4D4BD6932}"/>
              </a:ext>
            </a:extLst>
          </p:cNvPr>
          <p:cNvSpPr/>
          <p:nvPr/>
        </p:nvSpPr>
        <p:spPr>
          <a:xfrm>
            <a:off x="207485" y="1923348"/>
            <a:ext cx="3595170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Каким проектам подходит</a:t>
            </a:r>
          </a:p>
          <a:p>
            <a:pPr>
              <a:lnSpc>
                <a:spcPct val="150000"/>
              </a:lnSpc>
            </a:pPr>
            <a:r>
              <a:rPr lang="ru-RU" dirty="0"/>
              <a:t>Каскадная модель – хороший вариант, если выполняются эти условия: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Проект короткий и с нулевым риском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Требования фиксированные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Технологии стабильны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Доступны все необходимые ресурсы</a:t>
            </a:r>
          </a:p>
        </p:txBody>
      </p:sp>
    </p:spTree>
    <p:extLst>
      <p:ext uri="{BB962C8B-B14F-4D97-AF65-F5344CB8AC3E}">
        <p14:creationId xmlns:p14="http://schemas.microsoft.com/office/powerpoint/2010/main" val="125961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Классическая каскадная модель или модель водопада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2DDDE4C-413C-4BB3-BC32-A1B129E3D72C}"/>
              </a:ext>
            </a:extLst>
          </p:cNvPr>
          <p:cNvSpPr/>
          <p:nvPr/>
        </p:nvSpPr>
        <p:spPr>
          <a:xfrm>
            <a:off x="319489" y="1720223"/>
            <a:ext cx="400405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Плюсы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Простая в использовании модель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Каждый этап хорошо задокументирован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 проекта абсолютно предсказуем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Этапы и роли четко определены с самого начала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Минимальное вмешательство клиента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0A5494-7073-414B-8BA9-101000092835}"/>
              </a:ext>
            </a:extLst>
          </p:cNvPr>
          <p:cNvSpPr/>
          <p:nvPr/>
        </p:nvSpPr>
        <p:spPr>
          <a:xfrm>
            <a:off x="4820454" y="1645932"/>
            <a:ext cx="6912510" cy="48168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Минусы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 этой моделью слишком сложно и дорого адаптироваться к изменениям требований.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Документирование каждой фазы проекта занимает много времени.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 не можете ничего предоставить заказчику, пока не завершите весь проект.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Различные команды (дизайн, разработка, контроль качества и т. д.) изолированы, а взаимодействие между ними ограничено.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 обратной связи клиента результат рискует не оправдать ожидания</a:t>
            </a:r>
          </a:p>
        </p:txBody>
      </p:sp>
    </p:spTree>
    <p:extLst>
      <p:ext uri="{BB962C8B-B14F-4D97-AF65-F5344CB8AC3E}">
        <p14:creationId xmlns:p14="http://schemas.microsoft.com/office/powerpoint/2010/main" val="346339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Модифицированная каскадная модель или модель водоворота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6" y="1949847"/>
            <a:ext cx="11878203" cy="434156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На практике применяются каскадные модели без учёта этих ограничений.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i="1" dirty="0"/>
              <a:t>Модифицированная каскадная модель</a:t>
            </a:r>
            <a:r>
              <a:rPr lang="ru-RU" sz="2400" dirty="0"/>
              <a:t> или </a:t>
            </a:r>
            <a:r>
              <a:rPr lang="ru-RU" sz="2400" i="1" dirty="0"/>
              <a:t>модель водоворота</a:t>
            </a:r>
            <a:r>
              <a:rPr lang="ru-RU" sz="2400" dirty="0"/>
              <a:t> является простейшим случаем таких моделей.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Принцип модели заключается в возможности возвращения на предыдущую стадию в случае нахождения ошибки на текущей стадии и пересмотре или уточнении ранее принятых решений.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9708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Модифицированная каскадная модель или модель водоворота</a:t>
            </a:r>
          </a:p>
        </p:txBody>
      </p:sp>
      <p:pic>
        <p:nvPicPr>
          <p:cNvPr id="8" name="Содержимое 3"/>
          <p:cNvPicPr>
            <a:picLocks/>
          </p:cNvPicPr>
          <p:nvPr/>
        </p:nvPicPr>
        <p:blipFill>
          <a:blip r:embed="rId3" cstate="print"/>
          <a:srcRect l="5698" t="3122" r="4272" b="1561"/>
          <a:stretch>
            <a:fillRect/>
          </a:stretch>
        </p:blipFill>
        <p:spPr bwMode="auto">
          <a:xfrm>
            <a:off x="2274067" y="1949847"/>
            <a:ext cx="7643866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4332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Прототипируемая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модель или модель </a:t>
            </a:r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прототипирования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92490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i="1" dirty="0" err="1">
                <a:solidFill>
                  <a:srgbClr val="002060"/>
                </a:solidFill>
              </a:rPr>
              <a:t>Прототипируемая</a:t>
            </a:r>
            <a:r>
              <a:rPr lang="ru-RU" sz="2400" b="1" i="1" dirty="0">
                <a:solidFill>
                  <a:srgbClr val="002060"/>
                </a:solidFill>
              </a:rPr>
              <a:t> модель или модель </a:t>
            </a:r>
            <a:r>
              <a:rPr lang="ru-RU" sz="2400" b="1" i="1" dirty="0" err="1">
                <a:solidFill>
                  <a:srgbClr val="002060"/>
                </a:solidFill>
              </a:rPr>
              <a:t>прототипирования</a:t>
            </a:r>
            <a:r>
              <a:rPr lang="ru-RU" sz="2400" b="1" i="1" dirty="0">
                <a:solidFill>
                  <a:srgbClr val="002060"/>
                </a:solidFill>
              </a:rPr>
              <a:t> </a:t>
            </a:r>
            <a:r>
              <a:rPr lang="ru-RU" sz="2400" dirty="0"/>
              <a:t>создана для решения проблем при разработке в условиях неопределённости исходных требований путём разработки прототипов требуемого продукта. Модель требует быстрого построения множества прототипов, поэтому реализация этой модели возможна только при использовании соответствующего инструментария автоматизации.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Классическая модель </a:t>
            </a:r>
            <a:r>
              <a:rPr lang="ru-RU" sz="2400" b="1" i="1" dirty="0" err="1">
                <a:solidFill>
                  <a:srgbClr val="002060"/>
                </a:solidFill>
              </a:rPr>
              <a:t>прототипирования</a:t>
            </a:r>
            <a:r>
              <a:rPr lang="ru-RU" sz="2400" b="1" i="1" dirty="0">
                <a:solidFill>
                  <a:srgbClr val="002060"/>
                </a:solidFill>
              </a:rPr>
              <a:t> </a:t>
            </a:r>
            <a:r>
              <a:rPr lang="ru-RU" sz="2400" dirty="0"/>
              <a:t>использует разработку прототипов для постепенного выявления всех требований. Принцип модели заключается в первоначальной разработке сильно упрощённого прототипа, который в соответствии с пожеланиями пользователя циклически усовершенствуется и усложняется до тех пор, пока требования к ПО не становятся очевидными. После этого выполняется формализация выявленных требований (составляется спецификация) и ведётся собственно разработка продукта по какой-либо модели. Разработка прототипа и продукта рассматривается как отдельная итерация </a:t>
            </a:r>
            <a:r>
              <a:rPr lang="ru-RU" sz="2400" dirty="0" err="1"/>
              <a:t>ЖЦ</a:t>
            </a:r>
            <a:r>
              <a:rPr lang="ru-RU" sz="2400" dirty="0"/>
              <a:t> ПО.</a:t>
            </a:r>
          </a:p>
        </p:txBody>
      </p:sp>
    </p:spTree>
    <p:extLst>
      <p:ext uri="{BB962C8B-B14F-4D97-AF65-F5344CB8AC3E}">
        <p14:creationId xmlns:p14="http://schemas.microsoft.com/office/powerpoint/2010/main" val="196613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Прототипируемая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модель или модель </a:t>
            </a:r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прототипирования</a:t>
            </a:r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Содержимое 3"/>
          <p:cNvPicPr>
            <a:picLocks/>
          </p:cNvPicPr>
          <p:nvPr/>
        </p:nvPicPr>
        <p:blipFill>
          <a:blip r:embed="rId3" cstate="print"/>
          <a:srcRect l="6789" t="2736" r="5092" b="1369"/>
          <a:stretch>
            <a:fillRect/>
          </a:stretch>
        </p:blipFill>
        <p:spPr bwMode="auto">
          <a:xfrm>
            <a:off x="1755575" y="1518960"/>
            <a:ext cx="8643998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188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Модель одноразового </a:t>
            </a:r>
            <a:r>
              <a:rPr lang="ru-RU" sz="2800" b="1" dirty="0" err="1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прототипирования</a:t>
            </a:r>
            <a:endParaRPr lang="ru-RU" sz="2800" b="1" dirty="0">
              <a:gradFill>
                <a:gsLst>
                  <a:gs pos="0">
                    <a:srgbClr val="009900"/>
                  </a:gs>
                  <a:gs pos="50000">
                    <a:srgbClr val="92D050"/>
                  </a:gs>
                  <a:gs pos="100000">
                    <a:srgbClr val="009900"/>
                  </a:gs>
                </a:gsLst>
                <a:lin ang="5400000" scaled="1"/>
              </a:gradFill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Модификацией классической модели </a:t>
            </a:r>
            <a:r>
              <a:rPr lang="ru-RU" sz="2400" dirty="0" err="1"/>
              <a:t>прототипирования</a:t>
            </a:r>
            <a:r>
              <a:rPr lang="ru-RU" sz="2400" dirty="0"/>
              <a:t> является </a:t>
            </a:r>
            <a:r>
              <a:rPr lang="ru-RU" sz="2400" i="1" dirty="0"/>
              <a:t>модель одноразового </a:t>
            </a:r>
            <a:r>
              <a:rPr lang="ru-RU" sz="2400" i="1" dirty="0" err="1"/>
              <a:t>прототипирования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Принцип этой модели заключается в том, что начальный прототип является одноразовым.</a:t>
            </a:r>
          </a:p>
          <a:p>
            <a:pPr marL="0" indent="0">
              <a:buNone/>
            </a:pPr>
            <a:r>
              <a:rPr lang="ru-RU" sz="2400" dirty="0"/>
              <a:t>Благодаря </a:t>
            </a:r>
            <a:r>
              <a:rPr lang="ru-RU" sz="2400" dirty="0" err="1"/>
              <a:t>прототипированию</a:t>
            </a:r>
            <a:r>
              <a:rPr lang="ru-RU" sz="2400" dirty="0"/>
              <a:t> реализованные требования к ПО приближаются к целевым требованиям и снижаются неопределённости разработки (усилия, стоимости, сроки) вплоть до получения конечного продукта.</a:t>
            </a:r>
          </a:p>
          <a:p>
            <a:pPr marL="0" indent="0">
              <a:buNone/>
            </a:pPr>
            <a:r>
              <a:rPr lang="ru-RU" sz="2400" dirty="0"/>
              <a:t>В целом проекты с моделями </a:t>
            </a:r>
            <a:r>
              <a:rPr lang="ru-RU" sz="2400" dirty="0" err="1"/>
              <a:t>прототипирования</a:t>
            </a:r>
            <a:r>
              <a:rPr lang="ru-RU" sz="2400" dirty="0"/>
              <a:t> обычно завершаются на 40% раньше аналогичных проектов с каскадными моделями, а код получается на 45% более коротким. Однако этот код обычно оказывается более запутанным и сложным для сопровождения, а документация – не столь полной и качественной.</a:t>
            </a:r>
          </a:p>
        </p:txBody>
      </p:sp>
    </p:spTree>
    <p:extLst>
      <p:ext uri="{BB962C8B-B14F-4D97-AF65-F5344CB8AC3E}">
        <p14:creationId xmlns:p14="http://schemas.microsoft.com/office/powerpoint/2010/main" val="70554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Итеративная инкрементная модель</a:t>
            </a:r>
          </a:p>
        </p:txBody>
      </p:sp>
      <p:pic>
        <p:nvPicPr>
          <p:cNvPr id="8" name="Содержимое 3"/>
          <p:cNvPicPr>
            <a:picLocks/>
          </p:cNvPicPr>
          <p:nvPr/>
        </p:nvPicPr>
        <p:blipFill>
          <a:blip r:embed="rId3" cstate="print"/>
          <a:srcRect l="6305" t="2736" r="4729" b="1369"/>
          <a:stretch>
            <a:fillRect/>
          </a:stretch>
        </p:blipFill>
        <p:spPr bwMode="auto">
          <a:xfrm>
            <a:off x="2178342" y="1865934"/>
            <a:ext cx="7572428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037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Итеративная инкрементная модель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75726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ru-RU" sz="2400" i="1" dirty="0"/>
              <a:t>Итеративная инкрементная модель</a:t>
            </a:r>
            <a:r>
              <a:rPr lang="ru-RU" sz="2400" dirty="0"/>
              <a:t> или модель запланированного усовершенствования продукта использует разработку прототипов (выпусков) для последовательной реализации групп требований.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ru-RU" sz="2400" i="1" dirty="0">
                <a:solidFill>
                  <a:srgbClr val="FF0000"/>
                </a:solidFill>
              </a:rPr>
              <a:t>Принцип модели заключается в предварительном выделении требований и разработке прототипов, по функциональности всё более приближающихся к продукту.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ru-RU" sz="2400" dirty="0"/>
              <a:t>Первый прототип-выпуск основывается на наиболее понятной группе требований, в последующие реализации добавляются всё новые группы требований, пока не будет закончено создание продукта. Для каждого прототипа выполняются необходимые процессы, причём анализ требований и проектирование архитектуры выполняются одновременно, а остальные процессы – индивидуально для каждого прототипа.</a:t>
            </a:r>
          </a:p>
        </p:txBody>
      </p:sp>
    </p:spTree>
    <p:extLst>
      <p:ext uri="{BB962C8B-B14F-4D97-AF65-F5344CB8AC3E}">
        <p14:creationId xmlns:p14="http://schemas.microsoft.com/office/powerpoint/2010/main" val="424151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Итеративная инкрементная модель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7572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Рассматриваемая модель в явном виде включает в своё название два принципа, характерные в том или ином виде для многих моделей </a:t>
            </a:r>
            <a:r>
              <a:rPr lang="ru-RU" sz="2400" dirty="0" err="1"/>
              <a:t>прототипирования</a:t>
            </a:r>
            <a:r>
              <a:rPr lang="ru-RU" sz="2400" dirty="0"/>
              <a:t>: </a:t>
            </a:r>
            <a:r>
              <a:rPr lang="ru-RU" sz="2400" b="1" i="1" dirty="0">
                <a:solidFill>
                  <a:srgbClr val="002060"/>
                </a:solidFill>
              </a:rPr>
              <a:t>итеративность и </a:t>
            </a:r>
            <a:r>
              <a:rPr lang="ru-RU" sz="2400" b="1" i="1" dirty="0" err="1">
                <a:solidFill>
                  <a:srgbClr val="002060"/>
                </a:solidFill>
              </a:rPr>
              <a:t>инкрементность</a:t>
            </a:r>
            <a:r>
              <a:rPr lang="ru-RU" sz="2400" b="1" i="1" dirty="0">
                <a:solidFill>
                  <a:srgbClr val="002060"/>
                </a:solidFill>
              </a:rPr>
              <a:t> разработки. </a:t>
            </a:r>
          </a:p>
          <a:p>
            <a:pPr marL="0" indent="0">
              <a:buNone/>
            </a:pPr>
            <a:endParaRPr lang="ru-RU" sz="24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ru-RU" sz="2400" i="1" dirty="0">
                <a:solidFill>
                  <a:srgbClr val="002060"/>
                </a:solidFill>
              </a:rPr>
              <a:t>Итеративность означает разбиение </a:t>
            </a:r>
            <a:r>
              <a:rPr lang="ru-RU" sz="2400" i="1" dirty="0" err="1">
                <a:solidFill>
                  <a:srgbClr val="002060"/>
                </a:solidFill>
              </a:rPr>
              <a:t>ЖЦ</a:t>
            </a:r>
            <a:r>
              <a:rPr lang="ru-RU" sz="2400" i="1" dirty="0">
                <a:solidFill>
                  <a:srgbClr val="002060"/>
                </a:solidFill>
              </a:rPr>
              <a:t> на последовательность итераций, каждая из которых напоминает мини-проект</a:t>
            </a:r>
            <a:r>
              <a:rPr lang="ru-RU" sz="2400" i="1" u="sng" dirty="0">
                <a:solidFill>
                  <a:srgbClr val="002060"/>
                </a:solidFill>
              </a:rPr>
              <a:t>. </a:t>
            </a:r>
            <a:r>
              <a:rPr lang="ru-RU" sz="2400" u="sng" dirty="0"/>
              <a:t>Цель каждой итерации – разработка прототипа, результатом последней итерации является продукт.</a:t>
            </a:r>
          </a:p>
          <a:p>
            <a:pPr marL="0" indent="0">
              <a:buNone/>
            </a:pPr>
            <a:endParaRPr lang="ru-RU" sz="24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ru-RU" sz="2400" i="1" dirty="0" err="1">
                <a:solidFill>
                  <a:srgbClr val="002060"/>
                </a:solidFill>
              </a:rPr>
              <a:t>Инкрементность</a:t>
            </a:r>
            <a:r>
              <a:rPr lang="ru-RU" sz="2400" i="1" dirty="0">
                <a:solidFill>
                  <a:srgbClr val="002060"/>
                </a:solidFill>
              </a:rPr>
              <a:t> означает разработку продукта путём постепенного учёта требований к системе. </a:t>
            </a:r>
            <a:r>
              <a:rPr lang="ru-RU" sz="2400" dirty="0"/>
              <a:t>Фактически это также приводит к разработке прототипов, причём последний (часто лишь по срокам) прототип считается продуктом.</a:t>
            </a:r>
          </a:p>
        </p:txBody>
      </p:sp>
    </p:spTree>
    <p:extLst>
      <p:ext uri="{BB962C8B-B14F-4D97-AF65-F5344CB8AC3E}">
        <p14:creationId xmlns:p14="http://schemas.microsoft.com/office/powerpoint/2010/main" val="115903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Эволюционная модель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400" i="1" dirty="0">
                <a:solidFill>
                  <a:srgbClr val="002060"/>
                </a:solidFill>
              </a:rPr>
              <a:t>Эволюционная модель использует разработку прототипов (версий) для реализации частично установленных требований при последовательном уточнении и расширении этих требований.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Принцип модели заключается в постепенной формулировке требований и разработке прототипов, по требованиям всё более приближающихся к продукту.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/>
              <a:t>Первый прототип-версия основывается на наиболее сложной и непонятной группе требований, в последующих версиях эти требования уточняются и расширяются с учётом разработки ранних версий.</a:t>
            </a:r>
          </a:p>
        </p:txBody>
      </p:sp>
    </p:spTree>
    <p:extLst>
      <p:ext uri="{BB962C8B-B14F-4D97-AF65-F5344CB8AC3E}">
        <p14:creationId xmlns:p14="http://schemas.microsoft.com/office/powerpoint/2010/main" val="389127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Эволюционная модель </a:t>
            </a:r>
          </a:p>
        </p:txBody>
      </p:sp>
      <p:pic>
        <p:nvPicPr>
          <p:cNvPr id="8" name="Содержимое 3"/>
          <p:cNvPicPr>
            <a:picLocks/>
          </p:cNvPicPr>
          <p:nvPr/>
        </p:nvPicPr>
        <p:blipFill>
          <a:blip r:embed="rId3" cstate="print"/>
          <a:srcRect l="7671" t="2194" r="5753" b="1097"/>
          <a:stretch>
            <a:fillRect/>
          </a:stretch>
        </p:blipFill>
        <p:spPr bwMode="auto">
          <a:xfrm>
            <a:off x="1851632" y="1518960"/>
            <a:ext cx="8072494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458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Эволюционная модель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Рассматриваемая модель в явном виде включает в своё название принцип, характерный для ряда моделей </a:t>
            </a:r>
            <a:r>
              <a:rPr lang="ru-RU" sz="2400" dirty="0" err="1"/>
              <a:t>прототипирования</a:t>
            </a:r>
            <a:r>
              <a:rPr lang="ru-RU" sz="2400" dirty="0"/>
              <a:t>: </a:t>
            </a:r>
            <a:r>
              <a:rPr lang="ru-RU" sz="2400" dirty="0" err="1"/>
              <a:t>эволюционность</a:t>
            </a:r>
            <a:r>
              <a:rPr lang="ru-RU" sz="2400" dirty="0"/>
              <a:t> разработки. </a:t>
            </a:r>
          </a:p>
          <a:p>
            <a:pPr marL="0" indent="0">
              <a:buNone/>
            </a:pPr>
            <a:r>
              <a:rPr lang="ru-RU" sz="2400" i="1" dirty="0" err="1">
                <a:solidFill>
                  <a:srgbClr val="002060"/>
                </a:solidFill>
              </a:rPr>
              <a:t>Эволюционность</a:t>
            </a:r>
            <a:r>
              <a:rPr lang="ru-RU" sz="2400" dirty="0">
                <a:solidFill>
                  <a:srgbClr val="002060"/>
                </a:solidFill>
              </a:rPr>
              <a:t> означает разработку продукта путём включения и доработки реализации требований по мере их прояснения.</a:t>
            </a:r>
          </a:p>
        </p:txBody>
      </p:sp>
    </p:spTree>
    <p:extLst>
      <p:ext uri="{BB962C8B-B14F-4D97-AF65-F5344CB8AC3E}">
        <p14:creationId xmlns:p14="http://schemas.microsoft.com/office/powerpoint/2010/main" val="411802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Спиральная модель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i="1" dirty="0"/>
              <a:t>Спиральная модель</a:t>
            </a:r>
            <a:r>
              <a:rPr lang="ru-RU" sz="2400" dirty="0"/>
              <a:t> является результатом анализа и адаптации известных моделей: непланируемой, каскадной и </a:t>
            </a:r>
            <a:r>
              <a:rPr lang="ru-RU" sz="2400" dirty="0" err="1"/>
              <a:t>прототипируемой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dirty="0"/>
              <a:t>Модель получила своё название из-за графического представления в виде спирали, проходящей через </a:t>
            </a:r>
            <a:r>
              <a:rPr lang="ru-RU" sz="2400" dirty="0">
                <a:solidFill>
                  <a:srgbClr val="FF0000"/>
                </a:solidFill>
              </a:rPr>
              <a:t>4 стадии разработки.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Каждое их прохождение есть фаза разработки.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2654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Спиральная модель </a:t>
            </a:r>
          </a:p>
        </p:txBody>
      </p:sp>
      <p:pic>
        <p:nvPicPr>
          <p:cNvPr id="8" name="Содержимое 3"/>
          <p:cNvPicPr>
            <a:picLocks/>
          </p:cNvPicPr>
          <p:nvPr/>
        </p:nvPicPr>
        <p:blipFill>
          <a:blip r:embed="rId3" cstate="print"/>
          <a:srcRect l="1720" t="2138" r="1720" b="2138"/>
          <a:stretch>
            <a:fillRect/>
          </a:stretch>
        </p:blipFill>
        <p:spPr bwMode="auto">
          <a:xfrm>
            <a:off x="3234680" y="1698294"/>
            <a:ext cx="572264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173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Модель Боэма</a:t>
            </a:r>
          </a:p>
        </p:txBody>
      </p:sp>
      <p:pic>
        <p:nvPicPr>
          <p:cNvPr id="9" name="Содержимое 3" descr="ТРПО Модели Спиральная модель класс чб"/>
          <p:cNvPicPr>
            <a:picLocks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58" t="549" r="258" b="275"/>
          <a:stretch>
            <a:fillRect/>
          </a:stretch>
        </p:blipFill>
        <p:spPr bwMode="auto">
          <a:xfrm>
            <a:off x="2606040" y="1502229"/>
            <a:ext cx="6675120" cy="521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923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Модель Барри Боэма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7640" y="1582341"/>
            <a:ext cx="116738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графическом представлении модели используются полярные координаты При этом в заданный момент времени полярный угол соответствует успешности выполняемого проекта, а полярный радиус, точнее удаление по нему от полюса,– совокупной стоимости разработки.</a:t>
            </a:r>
          </a:p>
          <a:p>
            <a:r>
              <a:rPr lang="ru-RU" sz="2400" dirty="0"/>
              <a:t>Отличительной особенностью этой модели является специальное внимание рискам, влияющим на организацию </a:t>
            </a:r>
            <a:r>
              <a:rPr lang="ru-RU" sz="2400" dirty="0" err="1"/>
              <a:t>ЖЦ</a:t>
            </a:r>
            <a:r>
              <a:rPr lang="ru-RU" sz="2400" dirty="0"/>
              <a:t>. 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Риск – это некоторое событие или обстоятельство, препятствующее нормальному достижению цели проекта.</a:t>
            </a:r>
          </a:p>
          <a:p>
            <a:r>
              <a:rPr lang="ru-RU" sz="2400" dirty="0"/>
              <a:t>Большая часть рисков связана с организационными и процессными аспектами взаимодействия специалистов в команде.</a:t>
            </a:r>
          </a:p>
        </p:txBody>
      </p:sp>
    </p:spTree>
    <p:extLst>
      <p:ext uri="{BB962C8B-B14F-4D97-AF65-F5344CB8AC3E}">
        <p14:creationId xmlns:p14="http://schemas.microsoft.com/office/powerpoint/2010/main" val="394387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Модель Барри Боэма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7640" y="1582341"/>
            <a:ext cx="116738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/>
              <a:t>Принцип модели заключается в разработке ПО путём </a:t>
            </a:r>
            <a:r>
              <a:rPr lang="ru-RU" sz="2400" dirty="0" err="1"/>
              <a:t>прототипирования</a:t>
            </a:r>
            <a:r>
              <a:rPr lang="ru-RU" sz="2400" dirty="0"/>
              <a:t> за несколько витков спирали, именуемых итерациями, циклами, фазами. 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r>
              <a:rPr lang="ru-RU" sz="2400" i="1" dirty="0">
                <a:solidFill>
                  <a:srgbClr val="FF0000"/>
                </a:solidFill>
              </a:rPr>
              <a:t>Каждая итерация состоит из 4 стадий:</a:t>
            </a:r>
          </a:p>
          <a:p>
            <a:pPr>
              <a:buNone/>
            </a:pPr>
            <a:endParaRPr lang="ru-RU" sz="2400" i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ru-RU" sz="2400" dirty="0"/>
              <a:t> 1. Определение целей, альтернатив и ограничений;</a:t>
            </a:r>
          </a:p>
          <a:p>
            <a:pPr>
              <a:buNone/>
            </a:pPr>
            <a:r>
              <a:rPr lang="ru-RU" sz="2400" dirty="0"/>
              <a:t> 2. Анализ и проверка альтернатив, идентификация и разрешение рисков;</a:t>
            </a:r>
          </a:p>
          <a:p>
            <a:pPr>
              <a:buNone/>
            </a:pPr>
            <a:r>
              <a:rPr lang="ru-RU" sz="2400" dirty="0"/>
              <a:t> 3. Разработка продукта следующего уровня;</a:t>
            </a:r>
          </a:p>
          <a:p>
            <a:pPr>
              <a:buNone/>
            </a:pPr>
            <a:r>
              <a:rPr lang="ru-RU" sz="2400" dirty="0"/>
              <a:t> 4. Планирование следующей итерации (очередного цикла).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Каждый процесс или группа процессов разработки в рамках итерации предваряются анализом рисков и завершаются проверкой.</a:t>
            </a:r>
          </a:p>
        </p:txBody>
      </p:sp>
    </p:spTree>
    <p:extLst>
      <p:ext uri="{BB962C8B-B14F-4D97-AF65-F5344CB8AC3E}">
        <p14:creationId xmlns:p14="http://schemas.microsoft.com/office/powerpoint/2010/main" val="215762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6 ключевых практик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11697948" cy="4525963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4000" dirty="0"/>
              <a:t>В 2000 г. Боэм на основе опыта использования спиральной модели сформулировал 6 ключевых практик, обеспечивающих успешное её применение:</a:t>
            </a:r>
          </a:p>
          <a:p>
            <a:pPr>
              <a:buNone/>
            </a:pPr>
            <a:r>
              <a:rPr lang="ru-RU" sz="4000" dirty="0"/>
              <a:t>1.	Параллельное, а не последовательное определение артефактов проекта.</a:t>
            </a:r>
          </a:p>
          <a:p>
            <a:pPr>
              <a:buNone/>
            </a:pPr>
            <a:r>
              <a:rPr lang="ru-RU" sz="4000" dirty="0"/>
              <a:t>2.	Согласие в том, что на каждом цикле уделяется внимание: поставленным целям и ограничениям, альтернативам организации процесса и технологических решений, закладываемых в продукт, идентификации и разрешению рисков, оценки со стороны заинтересованных лиц, достижению согласия в том, что можно и необходимо двигаться дальше.</a:t>
            </a:r>
          </a:p>
          <a:p>
            <a:pPr>
              <a:buNone/>
            </a:pPr>
            <a:r>
              <a:rPr lang="ru-RU" sz="4000" dirty="0"/>
              <a:t>3.	Использование соображений, связанных с рисками, для определения уровня усилий, необходимого для каждой работы на всех циклах спирали.</a:t>
            </a:r>
          </a:p>
          <a:p>
            <a:pPr>
              <a:buNone/>
            </a:pPr>
            <a:r>
              <a:rPr lang="ru-RU" sz="4000" dirty="0"/>
              <a:t>4.	Использование соображений, связанных с рисками, для определения уровня детализации каждого артефакта, создаваемого на всех циклах спирали.</a:t>
            </a:r>
          </a:p>
          <a:p>
            <a:pPr marL="514350" indent="-514350">
              <a:buAutoNum type="arabicPeriod" startAt="5"/>
            </a:pPr>
            <a:r>
              <a:rPr lang="ru-RU" sz="4000" dirty="0"/>
              <a:t>Управление </a:t>
            </a:r>
            <a:r>
              <a:rPr lang="ru-RU" sz="4000" dirty="0" err="1"/>
              <a:t>ЖЦ</a:t>
            </a:r>
            <a:r>
              <a:rPr lang="ru-RU" sz="4000" dirty="0"/>
              <a:t> в контексте обязательств на основе 3 контрольных точек:</a:t>
            </a:r>
          </a:p>
          <a:p>
            <a:pPr marL="1314450" lvl="2" indent="-514350">
              <a:buNone/>
            </a:pPr>
            <a:r>
              <a:rPr lang="ru-RU" sz="4000" dirty="0"/>
              <a:t> 1. Цели </a:t>
            </a:r>
            <a:r>
              <a:rPr lang="ru-RU" sz="4000" dirty="0" err="1"/>
              <a:t>ЖЦ</a:t>
            </a:r>
            <a:r>
              <a:rPr lang="ru-RU" sz="4000" dirty="0"/>
              <a:t> (</a:t>
            </a:r>
            <a:r>
              <a:rPr lang="en-US" sz="4000" dirty="0" err="1"/>
              <a:t>LCO</a:t>
            </a:r>
            <a:r>
              <a:rPr lang="ru-RU" sz="4000" dirty="0"/>
              <a:t>);</a:t>
            </a:r>
          </a:p>
          <a:p>
            <a:pPr marL="1314450" lvl="2" indent="-514350">
              <a:buNone/>
            </a:pPr>
            <a:r>
              <a:rPr lang="ru-RU" sz="4000" dirty="0"/>
              <a:t> 2. Архитектура </a:t>
            </a:r>
            <a:r>
              <a:rPr lang="ru-RU" sz="4000" dirty="0" err="1"/>
              <a:t>ЖЦ</a:t>
            </a:r>
            <a:r>
              <a:rPr lang="ru-RU" sz="4000" dirty="0"/>
              <a:t> (</a:t>
            </a:r>
            <a:r>
              <a:rPr lang="en-US" sz="4000" dirty="0" err="1"/>
              <a:t>LCA</a:t>
            </a:r>
            <a:r>
              <a:rPr lang="ru-RU" sz="4000" dirty="0"/>
              <a:t>);</a:t>
            </a:r>
          </a:p>
          <a:p>
            <a:pPr marL="1314450" lvl="2" indent="-514350">
              <a:buNone/>
            </a:pPr>
            <a:r>
              <a:rPr lang="ru-RU" sz="4000" dirty="0"/>
              <a:t> 3. Начальный операционный вариант (</a:t>
            </a:r>
            <a:r>
              <a:rPr lang="en-US" sz="4000" dirty="0"/>
              <a:t>IOC</a:t>
            </a:r>
            <a:r>
              <a:rPr lang="ru-RU" sz="4000" dirty="0"/>
              <a:t>).</a:t>
            </a:r>
          </a:p>
          <a:p>
            <a:pPr>
              <a:buNone/>
            </a:pPr>
            <a:r>
              <a:rPr lang="ru-RU" sz="4000" dirty="0"/>
              <a:t>6.	</a:t>
            </a:r>
            <a:r>
              <a:rPr lang="ru-RU" sz="4000" dirty="0" err="1"/>
              <a:t>Уделение</a:t>
            </a:r>
            <a:r>
              <a:rPr lang="ru-RU" sz="4000" dirty="0"/>
              <a:t> внимания проектным работам и артефактам ПО и </a:t>
            </a:r>
            <a:r>
              <a:rPr lang="ru-RU" sz="4000" dirty="0" err="1"/>
              <a:t>ЖЦ</a:t>
            </a:r>
            <a:r>
              <a:rPr lang="ru-RU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182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Модифицированная спиральная модель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4898283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i="1" dirty="0"/>
              <a:t>Модифицированная спиральная модель</a:t>
            </a:r>
            <a:r>
              <a:rPr lang="ru-RU" sz="2000" dirty="0"/>
              <a:t> представляет собой один из промежуточных вариантов по уровню детализации. Детализация в этой модели связана с уточнением некоторых процессов, увеличением числа итераций при сокращении их длительности и определением контрольных точек.</a:t>
            </a:r>
          </a:p>
        </p:txBody>
      </p:sp>
      <p:pic>
        <p:nvPicPr>
          <p:cNvPr id="8" name="Содержимое 3" descr="ТРПО Модели Спиральная модель модиф чб"/>
          <p:cNvPicPr>
            <a:picLocks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55" t="543" r="255" b="272"/>
          <a:stretch>
            <a:fillRect/>
          </a:stretch>
        </p:blipFill>
        <p:spPr bwMode="auto">
          <a:xfrm>
            <a:off x="5486400" y="1502229"/>
            <a:ext cx="6546828" cy="533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639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0"/>
            <a:ext cx="12192000" cy="1502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71546"/>
          </a:xfrm>
        </p:spPr>
        <p:txBody>
          <a:bodyPr lIns="180000" rIns="0">
            <a:normAutofit/>
          </a:bodyPr>
          <a:lstStyle/>
          <a:p>
            <a:pPr algn="l"/>
            <a:r>
              <a:rPr lang="ru-RU" sz="3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Жизненный цикл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95740"/>
            <a:ext cx="12155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/>
            <a:r>
              <a:rPr lang="ru-RU" sz="2800" b="1" dirty="0">
                <a:gradFill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009900"/>
                    </a:gs>
                  </a:gsLst>
                  <a:lin ang="5400000" scaled="1"/>
                </a:gra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Модифицированная спиральная модель </a:t>
            </a:r>
          </a:p>
        </p:txBody>
      </p:sp>
      <p:sp>
        <p:nvSpPr>
          <p:cNvPr id="13" name="Содержимое 2"/>
          <p:cNvSpPr txBox="1">
            <a:spLocks/>
          </p:cNvSpPr>
          <p:nvPr/>
        </p:nvSpPr>
        <p:spPr>
          <a:xfrm>
            <a:off x="115677" y="1765453"/>
            <a:ext cx="5370723" cy="492490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/>
              <a:t>Данная модель содержит следующий общий набор контрольных точек:</a:t>
            </a:r>
          </a:p>
          <a:p>
            <a:pPr marL="0" indent="0">
              <a:buNone/>
            </a:pPr>
            <a:r>
              <a:rPr lang="ru-RU" sz="2000" dirty="0"/>
              <a:t>1. Концепция эксплуатации (</a:t>
            </a:r>
            <a:r>
              <a:rPr lang="en-US" sz="2000" dirty="0"/>
              <a:t>COO</a:t>
            </a:r>
            <a:r>
              <a:rPr lang="ru-RU" sz="2000" dirty="0"/>
              <a:t>);</a:t>
            </a:r>
          </a:p>
          <a:p>
            <a:pPr marL="0" indent="0">
              <a:buNone/>
            </a:pPr>
            <a:r>
              <a:rPr lang="ru-RU" sz="2000" dirty="0"/>
              <a:t>2. Цели </a:t>
            </a:r>
            <a:r>
              <a:rPr lang="ru-RU" sz="2000" dirty="0" err="1"/>
              <a:t>ЖЦ</a:t>
            </a:r>
            <a:r>
              <a:rPr lang="ru-RU" sz="2000" dirty="0"/>
              <a:t> (</a:t>
            </a:r>
            <a:r>
              <a:rPr lang="en-US" sz="2000" dirty="0" err="1"/>
              <a:t>LCO</a:t>
            </a:r>
            <a:r>
              <a:rPr lang="ru-RU" sz="2000" dirty="0"/>
              <a:t>), включая содержание </a:t>
            </a:r>
            <a:r>
              <a:rPr lang="ru-RU" sz="2000" dirty="0" err="1"/>
              <a:t>ЖЦ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r>
              <a:rPr lang="ru-RU" sz="2000" dirty="0"/>
              <a:t>3. Архитектура </a:t>
            </a:r>
            <a:r>
              <a:rPr lang="ru-RU" sz="2000" dirty="0" err="1"/>
              <a:t>ЖЦ</a:t>
            </a:r>
            <a:r>
              <a:rPr lang="ru-RU" sz="2000" dirty="0"/>
              <a:t> (</a:t>
            </a:r>
            <a:r>
              <a:rPr lang="en-US" sz="2000" dirty="0" err="1"/>
              <a:t>LCA</a:t>
            </a:r>
            <a:r>
              <a:rPr lang="ru-RU" sz="2000" dirty="0"/>
              <a:t>), здесь же можно говорить о готовности концептуальной архитектуры целевого ПО;</a:t>
            </a:r>
          </a:p>
          <a:p>
            <a:pPr marL="0" indent="0">
              <a:buNone/>
            </a:pPr>
            <a:r>
              <a:rPr lang="ru-RU" sz="2000" dirty="0"/>
              <a:t>4. Начальный операционный вариант (</a:t>
            </a:r>
            <a:r>
              <a:rPr lang="en-US" sz="2000" dirty="0"/>
              <a:t>IOC</a:t>
            </a:r>
            <a:r>
              <a:rPr lang="ru-RU" sz="2000" dirty="0"/>
              <a:t>) – вариант </a:t>
            </a:r>
            <a:r>
              <a:rPr lang="ru-RU" sz="2000" dirty="0" err="1"/>
              <a:t>ПС</a:t>
            </a:r>
            <a:r>
              <a:rPr lang="ru-RU" sz="2000" dirty="0"/>
              <a:t>, готовый для опытной эксплуатации;</a:t>
            </a:r>
          </a:p>
          <a:p>
            <a:pPr marL="0" indent="0">
              <a:buNone/>
            </a:pPr>
            <a:r>
              <a:rPr lang="ru-RU" sz="2000" dirty="0"/>
              <a:t>5. Конечный операционный вариант (</a:t>
            </a:r>
            <a:r>
              <a:rPr lang="en-US" sz="2000" dirty="0" err="1"/>
              <a:t>FOC</a:t>
            </a:r>
            <a:r>
              <a:rPr lang="ru-RU" sz="2000" dirty="0"/>
              <a:t>) – вариант ПО в виде продукта, готового для реальной эксплуатации.</a:t>
            </a:r>
          </a:p>
          <a:p>
            <a:pPr marL="0" indent="0">
              <a:buNone/>
            </a:pPr>
            <a:r>
              <a:rPr lang="ru-RU" sz="2000" dirty="0"/>
              <a:t>Фактически получается эволюционный </a:t>
            </a:r>
            <a:r>
              <a:rPr lang="ru-RU" sz="2000" dirty="0" err="1"/>
              <a:t>ЖЦ</a:t>
            </a:r>
            <a:r>
              <a:rPr lang="ru-RU" sz="2000" dirty="0"/>
              <a:t> в форме спиральной модели.</a:t>
            </a:r>
          </a:p>
        </p:txBody>
      </p:sp>
      <p:pic>
        <p:nvPicPr>
          <p:cNvPr id="8" name="Содержимое 3" descr="ТРПО Модели Спиральная модель модиф чб"/>
          <p:cNvPicPr>
            <a:picLocks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55" t="543" r="255" b="272"/>
          <a:stretch>
            <a:fillRect/>
          </a:stretch>
        </p:blipFill>
        <p:spPr bwMode="auto">
          <a:xfrm>
            <a:off x="5486400" y="1502229"/>
            <a:ext cx="6546828" cy="533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728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55148" cy="1502229"/>
          </a:xfrm>
          <a:prstGeom prst="rect">
            <a:avLst/>
          </a:prstGeom>
        </p:spPr>
      </p:pic>
      <p:pic>
        <p:nvPicPr>
          <p:cNvPr id="3074" name="Picture 2" descr="http://www.nicospa.eu/var/ezwebin_site/storage/images/health-and-safety/hs-policy/1582-3-eng-GB/HS-Policy_slide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8803"/>
            <a:ext cx="12349458" cy="4546257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1449738" y="2507787"/>
            <a:ext cx="9255672" cy="1143000"/>
          </a:xfrm>
        </p:spPr>
        <p:txBody>
          <a:bodyPr>
            <a:noAutofit/>
          </a:bodyPr>
          <a:lstStyle/>
          <a:p>
            <a:r>
              <a:rPr lang="ru-RU" sz="5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 Black" pitchFamily="34" charset="0"/>
              </a:rPr>
              <a:t>Спасибо за внимание !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0" y="5355771"/>
            <a:ext cx="12155148" cy="1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5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6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6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0"/>
                            </p:stCondLst>
                            <p:childTnLst>
                              <p:par>
                                <p:cTn id="28" presetID="42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Words>3622</Words>
  <Application>Microsoft Office PowerPoint</Application>
  <PresentationFormat>Широкоэкранный</PresentationFormat>
  <Paragraphs>403</Paragraphs>
  <Slides>58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3" baseType="lpstr">
      <vt:lpstr>Arial</vt:lpstr>
      <vt:lpstr>Arial Black</vt:lpstr>
      <vt:lpstr>Arial Narrow</vt:lpstr>
      <vt:lpstr>Calibri</vt:lpstr>
      <vt:lpstr>Тема Office</vt:lpstr>
      <vt:lpstr>Презентация PowerPoint</vt:lpstr>
      <vt:lpstr>Презентация PowerPoint</vt:lpstr>
      <vt:lpstr>ОСНОВЫ СИСТЕМНОЙ ИНЖЕНЕРИИ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Жизненный цикл программного продукта</vt:lpstr>
      <vt:lpstr>Спасибо за внимание 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Спирин Игорь Сергеевич</dc:creator>
  <cp:lastModifiedBy>Игорь Спирин</cp:lastModifiedBy>
  <cp:revision>61</cp:revision>
  <dcterms:created xsi:type="dcterms:W3CDTF">2019-03-03T17:54:03Z</dcterms:created>
  <dcterms:modified xsi:type="dcterms:W3CDTF">2026-02-12T17:09:28Z</dcterms:modified>
</cp:coreProperties>
</file>